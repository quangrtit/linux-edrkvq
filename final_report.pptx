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22"/>
  </p:notesMasterIdLst>
  <p:sldIdLst>
    <p:sldId id="256" r:id="rId3"/>
    <p:sldId id="304" r:id="rId4"/>
    <p:sldId id="321" r:id="rId5"/>
    <p:sldId id="311" r:id="rId6"/>
    <p:sldId id="305" r:id="rId7"/>
    <p:sldId id="320" r:id="rId8"/>
    <p:sldId id="307" r:id="rId9"/>
    <p:sldId id="308" r:id="rId10"/>
    <p:sldId id="316" r:id="rId11"/>
    <p:sldId id="317" r:id="rId12"/>
    <p:sldId id="318" r:id="rId13"/>
    <p:sldId id="319" r:id="rId14"/>
    <p:sldId id="309" r:id="rId15"/>
    <p:sldId id="312" r:id="rId16"/>
    <p:sldId id="322" r:id="rId17"/>
    <p:sldId id="306" r:id="rId18"/>
    <p:sldId id="313" r:id="rId19"/>
    <p:sldId id="315" r:id="rId20"/>
    <p:sldId id="310" r:id="rId2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iwDyJwrCt2OCcO4zgasqeRcS0k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F249E7-CC46-4962-A1F3-6DBACFB98363}">
  <a:tblStyle styleId="{2DF249E7-CC46-4962-A1F3-6DBACFB9836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44" y="186"/>
      </p:cViewPr>
      <p:guideLst>
        <p:guide orient="horz" pos="43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60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088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441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6691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9229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4125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7648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053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1442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196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8438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2982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2148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7935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344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9253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4912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3697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790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body" idx="1"/>
          </p:nvPr>
        </p:nvSpPr>
        <p:spPr>
          <a:xfrm>
            <a:off x="628650" y="1340772"/>
            <a:ext cx="3505200" cy="3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body" idx="2"/>
          </p:nvPr>
        </p:nvSpPr>
        <p:spPr>
          <a:xfrm>
            <a:off x="628650" y="1702889"/>
            <a:ext cx="3505200" cy="3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body" idx="3"/>
          </p:nvPr>
        </p:nvSpPr>
        <p:spPr>
          <a:xfrm>
            <a:off x="628650" y="2057132"/>
            <a:ext cx="3505200" cy="3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44494D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44494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body" idx="4"/>
          </p:nvPr>
        </p:nvSpPr>
        <p:spPr>
          <a:xfrm>
            <a:off x="628650" y="2408668"/>
            <a:ext cx="3505200" cy="3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5B4B4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B5B4B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3"/>
          <p:cNvSpPr txBox="1">
            <a:spLocks noGrp="1"/>
          </p:cNvSpPr>
          <p:nvPr>
            <p:ph type="body" idx="5"/>
          </p:nvPr>
        </p:nvSpPr>
        <p:spPr>
          <a:xfrm>
            <a:off x="628650" y="2751668"/>
            <a:ext cx="3505200" cy="3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B5B4B4"/>
              </a:buClr>
              <a:buSzPts val="1350"/>
              <a:buFont typeface="Arial"/>
              <a:buNone/>
              <a:defRPr sz="1350" b="0" i="0" u="none" strike="noStrike" cap="none">
                <a:solidFill>
                  <a:srgbClr val="B5B4B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5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 rot="5400000">
            <a:off x="3188324" y="-1190455"/>
            <a:ext cx="2767352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5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2" name="Google Shape;8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6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8" name="Google Shape;108;p6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" name="Google Shape;116;p6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9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486639" y="961593"/>
            <a:ext cx="3250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Linux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06660" y="0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Linux Logo PNG, Linux Icon Free Download - Free Transparent PNG Log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922" y="961593"/>
            <a:ext cx="2257759" cy="286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5974" y="3515627"/>
            <a:ext cx="2206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Khổng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73" y="4038847"/>
            <a:ext cx="1451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08/09/2025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/>
              <a:t>Công</a:t>
            </a:r>
            <a:r>
              <a:rPr lang="en-US" sz="2400" dirty="0" smtClean="0"/>
              <a:t> </a:t>
            </a:r>
            <a:r>
              <a:rPr lang="en-US" sz="2400" dirty="0" err="1" smtClean="0"/>
              <a:t>nghệ</a:t>
            </a:r>
            <a:r>
              <a:rPr lang="en-US" sz="2400" dirty="0"/>
              <a:t> </a:t>
            </a:r>
            <a:r>
              <a:rPr lang="en-US" sz="2400" dirty="0" err="1" smtClean="0"/>
              <a:t>eBPF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13" name="Google Shape;144;p3"/>
          <p:cNvSpPr txBox="1"/>
          <p:nvPr/>
        </p:nvSpPr>
        <p:spPr>
          <a:xfrm>
            <a:off x="469575" y="810500"/>
            <a:ext cx="78315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vi-VN" sz="1100" b="1" dirty="0">
                <a:latin typeface="+mj-lt"/>
              </a:rPr>
              <a:t>Máy ảo nhỏ trong kernel:</a:t>
            </a:r>
            <a:r>
              <a:rPr lang="vi-VN" sz="1100" dirty="0">
                <a:latin typeface="+mj-lt"/>
              </a:rPr>
              <a:t> eBPF cho phép chạy các chương trình nhỏ, an toàn, hiệu suất cao trực tiếp trong Linux kernel mà không cần sửa kernel</a:t>
            </a:r>
            <a:r>
              <a:rPr lang="vi-VN" sz="1100" dirty="0" smtClean="0">
                <a:latin typeface="+mj-lt"/>
              </a:rPr>
              <a:t>.</a:t>
            </a:r>
            <a:endParaRPr lang="en-US" sz="1100" dirty="0" smtClean="0">
              <a:latin typeface="+mj-lt"/>
            </a:endParaRPr>
          </a:p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vi-VN" sz="1100" b="1" dirty="0">
                <a:latin typeface="+mj-lt"/>
              </a:rPr>
              <a:t>Viết và kiểm tra an toàn:</a:t>
            </a:r>
            <a:r>
              <a:rPr lang="vi-VN" sz="1100" dirty="0">
                <a:latin typeface="+mj-lt"/>
              </a:rPr>
              <a:t> Chương trình eBPF viết bằng C, biên dịch thành bytecode, được kernel kiểm tra qua verifier để đảm bảo an toàn</a:t>
            </a:r>
            <a:r>
              <a:rPr lang="vi-VN" sz="1100" dirty="0" smtClean="0">
                <a:latin typeface="+mj-lt"/>
              </a:rPr>
              <a:t>.</a:t>
            </a:r>
            <a:endParaRPr lang="en-US" sz="1100" dirty="0" smtClean="0">
              <a:latin typeface="+mj-lt"/>
            </a:endParaRPr>
          </a:p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dirty="0" err="1">
                <a:latin typeface="+mj-lt"/>
              </a:rPr>
              <a:t>Gắn</a:t>
            </a:r>
            <a:r>
              <a:rPr lang="en-US" sz="1100" b="1" dirty="0">
                <a:latin typeface="+mj-lt"/>
              </a:rPr>
              <a:t> </a:t>
            </a:r>
            <a:r>
              <a:rPr lang="en-US" sz="1100" b="1" dirty="0" err="1">
                <a:latin typeface="+mj-lt"/>
              </a:rPr>
              <a:t>vào</a:t>
            </a:r>
            <a:r>
              <a:rPr lang="en-US" sz="1100" b="1" dirty="0">
                <a:latin typeface="+mj-lt"/>
              </a:rPr>
              <a:t> hook </a:t>
            </a:r>
            <a:r>
              <a:rPr lang="en-US" sz="1100" b="1" dirty="0" err="1">
                <a:latin typeface="+mj-lt"/>
              </a:rPr>
              <a:t>và</a:t>
            </a:r>
            <a:r>
              <a:rPr lang="en-US" sz="1100" b="1" dirty="0">
                <a:latin typeface="+mj-lt"/>
              </a:rPr>
              <a:t> </a:t>
            </a:r>
            <a:r>
              <a:rPr lang="en-US" sz="1100" b="1" dirty="0" err="1">
                <a:latin typeface="+mj-lt"/>
              </a:rPr>
              <a:t>chạy</a:t>
            </a:r>
            <a:r>
              <a:rPr lang="en-US" sz="1100" b="1" dirty="0">
                <a:latin typeface="+mj-lt"/>
              </a:rPr>
              <a:t>:</a:t>
            </a:r>
            <a:r>
              <a:rPr lang="en-US" sz="1100" dirty="0">
                <a:latin typeface="+mj-lt"/>
              </a:rPr>
              <a:t> Code </a:t>
            </a:r>
            <a:r>
              <a:rPr lang="en-US" sz="1100" dirty="0" err="1">
                <a:latin typeface="+mj-lt"/>
              </a:rPr>
              <a:t>eBPF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có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thể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gắn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vào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syscall</a:t>
            </a:r>
            <a:r>
              <a:rPr lang="en-US" sz="1100" dirty="0">
                <a:latin typeface="+mj-lt"/>
              </a:rPr>
              <a:t>, network, file I/O… </a:t>
            </a:r>
            <a:r>
              <a:rPr lang="en-US" sz="1100" dirty="0" err="1">
                <a:latin typeface="+mj-lt"/>
              </a:rPr>
              <a:t>để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giám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sát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hệ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thống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hoặc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chặn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hành</a:t>
            </a:r>
            <a:r>
              <a:rPr lang="en-US" sz="1100" dirty="0">
                <a:latin typeface="+mj-lt"/>
              </a:rPr>
              <a:t> vi </a:t>
            </a:r>
            <a:r>
              <a:rPr lang="en-US" sz="1100" dirty="0" err="1">
                <a:latin typeface="+mj-lt"/>
              </a:rPr>
              <a:t>độc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hại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với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hiệu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suất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cao</a:t>
            </a:r>
            <a:r>
              <a:rPr lang="en-US" sz="1100" dirty="0">
                <a:latin typeface="+mj-lt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+mj-lt"/>
              <a:sym typeface="Arial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image4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061817" y="2423679"/>
            <a:ext cx="4598555" cy="209522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2625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/>
              <a:t>Công</a:t>
            </a:r>
            <a:r>
              <a:rPr lang="en-US" sz="2400" dirty="0" smtClean="0"/>
              <a:t> </a:t>
            </a:r>
            <a:r>
              <a:rPr lang="en-US" sz="2400" dirty="0" err="1" smtClean="0"/>
              <a:t>nghệ</a:t>
            </a:r>
            <a:r>
              <a:rPr lang="en-US" sz="2400" dirty="0"/>
              <a:t> </a:t>
            </a:r>
            <a:r>
              <a:rPr lang="en-US" sz="2400" dirty="0" err="1" smtClean="0"/>
              <a:t>eBPF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4" name="Picture 4" descr="https://www.plantuml.com/plantuml/png/RL8_YnD15E_dKpmGP8DUzbJaO0Dwviys9nZbxh0879FTjzanatd3pDlJr8AzO6DfPMCZLkOAY_X5uYTnPauaXrQxC_Fxytj_ZZrBnzrA2rQi4PvtQpXrso-c1HnEInXsIjTm6rvqXjKAGGY_LCPA9rSWArQNYjT3MIqNZZfJZqYJWrkJU-N3Sl8_9BaQtH_KuVsZe-5u3sM8yH-jiYmVJ0xtKBwLDRrMPW6Dr1w5I1K8KPohtUO7GqmzWgm_jqs_wWr4CQALLHfXf6KW7Jo2z4GpaqsUbWNq6T_mNUYlfFNXCpmj0ob60QSMBHSmtduFFAtcWNOm9sBFJbhu-NvtzHPuT_Kr_NuCc7RxJOeYm9X8mm8D-2LgP3B9DXxwxLwYpgFpLbO8cRGMxYHuS1T5Q3TeaZMwOcRYxSK5MJHvlCibiwo2ZceWEqUd6eKEdfqyxW6tQ21Re-y9WE84dK6TTC0wMkInnC7CF4byQ8cMa2t3onppb-DfC4RjGnP3YJvnZbnY3yBHCrc1fbPDYfUseKZDhjhTvjCww9xzBUVNkmyGpNAyHCF-PZ-doW3DNs757amOMGVLRlFPW0rivUCapqnqBU2wy1fZtBn6puxMDxMkfmAL9e_Gr5w8bFCu10qx_Hi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708526"/>
            <a:ext cx="3031808" cy="374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4649" y="708527"/>
            <a:ext cx="559549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BPF C (.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bpf.c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code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programs/maps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Clang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→ 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bpf.o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ELF object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bytecode, maps, BTF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bpftool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 skeleton → .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skel.h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userspace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userspace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 +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build loader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libbpf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loader 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__open/load/attach) 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libbpf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maps, load bytecode, attach hook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Verifier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→ kernel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&amp; attach 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/maps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attach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(XDP,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kprobe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...).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Runtime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trigger;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userspace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maps/events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/maps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bpffs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Unload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(detach/destroy) →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kernel cleanup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7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/>
              <a:t>Sơ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kiến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tổng</a:t>
            </a:r>
            <a:r>
              <a:rPr lang="en-US" sz="2400" dirty="0" smtClean="0"/>
              <a:t> </a:t>
            </a:r>
            <a:r>
              <a:rPr lang="en-US" sz="2400" dirty="0" err="1" smtClean="0"/>
              <a:t>quan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13" name="Google Shape;144;p3"/>
          <p:cNvSpPr txBox="1"/>
          <p:nvPr/>
        </p:nvSpPr>
        <p:spPr>
          <a:xfrm>
            <a:off x="469575" y="810500"/>
            <a:ext cx="78315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endParaRPr lang="en-US" sz="1100" dirty="0" smtClean="0">
              <a:latin typeface="+mj-lt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https://www.plantuml.com/plantuml/png/bLJFZnir5BxFN_6qN18fQGMSkWVKdSmkRBTBGxFya2WQUJtEs8h77iQUjX7YW3XmGW9nue2WHGWXiKASa18X3jD_PFuJdZsPn4jouHAFxUyzV-_xNjvzOqbbwq96PY5KIIfI0DL5gHLJTcQNaa75g2Kgboo06CigfksoP9EOq4LUwLfb4orr1Q-T9CdhyHi7mUTxuDFutfl9sK7mwVy1d-pJk9TC41nPOR682z6k_b5WgsP5uL9dDPwT9e_XWybiJ1u8eYmCPbYoK4owYs4KbPYHv0oEtZUi6XlSiYFuB0BuE0J2IOwx9sfG4A7kqB8SVWB4TASEU_gSqTgIQtpl_D44OgdfWbM8dnEbhPWlExo3RUvSr8UwmY-uuXKZcJb-eiPWc9od6PipPLXg_OKx5fgcroumE3CkZzqSkFHz8aoT4IH339Rbw2IR7V9vU9d4ny29uSoCu7oAFmMpnE67Hou7ufCOCyo5nEYfbe8kuS7iqRjmXYV6bOJh2CfAKsOmt6sb_oewmKbjqHkITVby1i5Cz7cWzGMhKDXRQhDuUWRJIkVeU2V53AKORwI0mSFP9RoZzS8CyMudCWm-IgOZmDiHN5MOhjH2MTF9xNBU4iC_SabA_u1ddc8Tbb4hj4fBNopUzCKTlkmBzdQGAZTfGKftaGdZEY3jT4Xx7KACDrAK_UuP5vP9OMnQYgm_x7nsfuY40IMKCw-bP-wqUYnK3d4zdxEggoHZrtMUigSCI-zVwNPU1uVt1lX-XV7uhQqjS0ollcdNNrDuslm49MzUAh3D3UL0UNEZE9Zc1UL1eEyFZBhWxVf70RPTlT0-zjEwNVsiG3P_EqmG4JJzeJZAyNCPu3TTlCE--hPTVuyLoxfTVwVo0Ee4GTmLlYnk4VQPaOPRDHG82w9y5_HH3fYtgpyKc0NQQhKAeLuvX-LkibYGxUgcxAJIKaAdSHI59OOYOKS2RTU_rVuV1xRIM4OIx-7zWuYF6nI5De4oVocmgCAV51SHHRqs8JUqKdhyytPzu_NlQC604vLX8vgiQuOHR0wsxJ7i4numQk9BLHmN2uMkbRrRAxz6aLCmC22eyv097Joa_3Oo5LkQXgaixLfOwdm4VXzmZ9Is3AwrjRe0FTzCtHYR0bj3jEilQbXmNBzqaxz6XMtpiZY6ztODkRZLI2Fakle5FMb-LtoqayqYTN29lggH1Azjff-fEz74DoWK3VvGJFJhPlBYHeD4jEB_uO51M08usdla_KowsbhgtVr1G2v8xpHAxuttW-RkTiuMo4BbVjuDmwdhBG6xctt1u_Vngoxalm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73" y="914399"/>
            <a:ext cx="8361760" cy="355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03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Self-defense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144;p3"/>
          <p:cNvSpPr txBox="1"/>
          <p:nvPr/>
        </p:nvSpPr>
        <p:spPr>
          <a:xfrm>
            <a:off x="469575" y="810500"/>
            <a:ext cx="78315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Self-defense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VCS-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aJiant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xấu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hacker. </a:t>
            </a: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9575" y="1203814"/>
            <a:ext cx="800779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Tx/>
              <a:buChar char="-"/>
            </a:pP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truncate.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mmap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Tiêm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shellcode, debug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Tx/>
              <a:buChar char="-"/>
            </a:pP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iảm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I/O,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iảm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load module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fontAlgn="base">
              <a:buFontTx/>
              <a:buChar char="-"/>
            </a:pP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0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Self-defense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8" name="Picture 2" descr="PlantUML diagr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17" y="762027"/>
            <a:ext cx="7657416" cy="30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04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144;p3"/>
          <p:cNvSpPr txBox="1"/>
          <p:nvPr/>
        </p:nvSpPr>
        <p:spPr>
          <a:xfrm>
            <a:off x="469575" y="810500"/>
            <a:ext cx="77580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vi-VN" sz="1100" dirty="0">
                <a:latin typeface="+mj-lt"/>
              </a:rPr>
              <a:t>IOC block là tính năng chặn các hành vi độc hại đã biết như: thực thi một file chứa mã độc, kết nối đến một IP độc hại, nhận lệnh điều khiển từ hacker, ... </a:t>
            </a:r>
            <a:endParaRPr lang="en-US" sz="1100" dirty="0" smtClean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0225" y="1468922"/>
            <a:ext cx="24069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file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fontAlgn="base">
              <a:buAutoNum type="arabicPeriod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9051" y="1468922"/>
            <a:ext cx="24069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IOC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Code, document, file, malware, virus icon - Download on Iconfind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5" y="1957338"/>
            <a:ext cx="2168586" cy="216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remium Vector | Ip lockout ban icon Black vector graphic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838828"/>
            <a:ext cx="2472331" cy="247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64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89189" y="1328748"/>
            <a:ext cx="28330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+mj-lt"/>
              </a:rPr>
              <a:t>Fanotify là một Linux kernel subsystem cho phép ứng dụng người dùng (userspace program) nhận sự kiện truy cập file và kiểm soát hành vi trên filesystem.</a:t>
            </a:r>
            <a:endParaRPr lang="en-US" dirty="0">
              <a:latin typeface="+mj-lt"/>
            </a:endParaRPr>
          </a:p>
        </p:txBody>
      </p:sp>
      <p:sp>
        <p:nvSpPr>
          <p:cNvPr id="13" name="Google Shape;144;p3"/>
          <p:cNvSpPr txBox="1"/>
          <p:nvPr/>
        </p:nvSpPr>
        <p:spPr>
          <a:xfrm>
            <a:off x="460375" y="708526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file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hại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FF0000"/>
                </a:solidFill>
                <a:latin typeface="+mj-lt"/>
              </a:rPr>
              <a:t> </a:t>
            </a:r>
            <a:endParaRPr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947" y="1118936"/>
            <a:ext cx="5078210" cy="283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0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83783" y="1147097"/>
            <a:ext cx="767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+mj-lt"/>
              </a:rPr>
              <a:t>LMDB (Lightning Memory-Mapped Database) là cơ sở dữ liệu key–value siêu nhanh, dùng kỹ thuật memory-mapped I/O để truy xuất dữ liệu trực tiếp từ file như trong RAM.</a:t>
            </a:r>
          </a:p>
        </p:txBody>
      </p:sp>
      <p:sp>
        <p:nvSpPr>
          <p:cNvPr id="13" name="Google Shape;144;p3"/>
          <p:cNvSpPr txBox="1"/>
          <p:nvPr/>
        </p:nvSpPr>
        <p:spPr>
          <a:xfrm>
            <a:off x="460375" y="708526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1.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Chặn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thực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thi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file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thực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thi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độc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rgbClr val="FF0000"/>
                </a:solidFill>
                <a:latin typeface="+mj-lt"/>
                <a:sym typeface="Arial"/>
              </a:rPr>
              <a:t>hại</a:t>
            </a:r>
            <a:endParaRPr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752" y="1685925"/>
            <a:ext cx="5810638" cy="288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55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 descr="https://www.plantuml.com/plantuml/png/XP91Rxf04CNlV8ftCdWm9F_atyFQMYbYRKGajadRazd0K3QkkmGM6xzzLoZsGDAUsEnZtlnczirhmolJ7ANJ7XosfagHP5XofOt8ptXImc243QyEq0hUrAce96uSW4LQbmo9bjBR4SyGdaYPUcebaSEDTNTnFuOfIC4zKpss6Z2Pp71r8PM9_Bka_Tysz-FzDWdZVVWM1liat6s67koH39P24X9k2fm4HsKPf507roihdNeroTpBC-yspsRZ2rJN8-1fGLW9mx3XKgH2D_NG7c0NYaKOlq_xYq3gch1SjFmFqJPOXujE96a5L-bhRS1bsaXk2Cyh_z__6wnuNVH6tNBCh-rx03-AjgzTuP2X5Nk68GN0_2o3qUXcTeNI6TsPgg5k7yCv_vpqvxtwK_zjy_215t4aZ11ePOHg29UCz9d1Po6avMW9RE9qwSnjiOtV5m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57" y="708526"/>
            <a:ext cx="4760779" cy="384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1000" y="1794605"/>
            <a:ext cx="26842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Luồng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module </a:t>
            </a:r>
            <a:r>
              <a:rPr lang="en-US" dirty="0" err="1" smtClean="0"/>
              <a:t>chặn</a:t>
            </a:r>
            <a:r>
              <a:rPr lang="en-US" dirty="0" smtClean="0"/>
              <a:t> file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độc</a:t>
            </a:r>
            <a:r>
              <a:rPr lang="en-US" dirty="0" smtClean="0"/>
              <a:t> </a:t>
            </a:r>
            <a:r>
              <a:rPr lang="en-US" dirty="0" err="1" smtClean="0"/>
              <a:t>hại</a:t>
            </a:r>
            <a:r>
              <a:rPr lang="en-US" dirty="0" smtClean="0"/>
              <a:t> (</a:t>
            </a:r>
            <a:r>
              <a:rPr lang="en-US" dirty="0" smtClean="0"/>
              <a:t>file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đĩa</a:t>
            </a:r>
            <a:r>
              <a:rPr lang="en-US" dirty="0" smtClean="0"/>
              <a:t>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Google Shape;144;p3"/>
          <p:cNvSpPr txBox="1"/>
          <p:nvPr/>
        </p:nvSpPr>
        <p:spPr>
          <a:xfrm>
            <a:off x="460375" y="708526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file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6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Google Shape;144;p3"/>
          <p:cNvSpPr txBox="1"/>
          <p:nvPr/>
        </p:nvSpPr>
        <p:spPr>
          <a:xfrm>
            <a:off x="460375" y="708526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file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hại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146" name="Picture 2" descr="Fileless malware là gì? Làm sao để tránh bị dính mã độc fileles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226" y="1195058"/>
            <a:ext cx="5010251" cy="281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12068" y="1280772"/>
            <a:ext cx="237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độc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file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đĩa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9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Google Shape;144;p3"/>
          <p:cNvSpPr txBox="1"/>
          <p:nvPr/>
        </p:nvSpPr>
        <p:spPr>
          <a:xfrm>
            <a:off x="460375" y="708526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file </a:t>
            </a:r>
            <a:r>
              <a:rPr lang="en-US" dirty="0" err="1">
                <a:solidFill>
                  <a:srgbClr val="FF0000"/>
                </a:solidFill>
              </a:rPr>
              <a:t>thực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04914" y="258391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Google Shape;144;p3"/>
          <p:cNvSpPr txBox="1"/>
          <p:nvPr/>
        </p:nvSpPr>
        <p:spPr>
          <a:xfrm>
            <a:off x="525724" y="1094626"/>
            <a:ext cx="4176062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err="1" smtClean="0"/>
              <a:t>Sử</a:t>
            </a:r>
            <a:r>
              <a:rPr lang="en-US" sz="1100" dirty="0" smtClean="0"/>
              <a:t> </a:t>
            </a:r>
            <a:r>
              <a:rPr lang="en-US" sz="1100" dirty="0" err="1"/>
              <a:t>dụng</a:t>
            </a:r>
            <a:r>
              <a:rPr lang="en-US" sz="1100" dirty="0"/>
              <a:t> </a:t>
            </a:r>
            <a:r>
              <a:rPr lang="en-US" sz="1100" dirty="0" err="1"/>
              <a:t>eBPF</a:t>
            </a:r>
            <a:r>
              <a:rPr lang="en-US" sz="1100" dirty="0"/>
              <a:t> hook </a:t>
            </a:r>
            <a:r>
              <a:rPr lang="en-US" sz="1100" dirty="0" err="1"/>
              <a:t>tại</a:t>
            </a:r>
            <a:r>
              <a:rPr lang="en-US" sz="1100" dirty="0"/>
              <a:t> </a:t>
            </a:r>
            <a:r>
              <a:rPr lang="en-US" sz="1100" dirty="0" err="1"/>
              <a:t>lsm</a:t>
            </a:r>
            <a:r>
              <a:rPr lang="en-US" sz="1100" dirty="0"/>
              <a:t>/</a:t>
            </a:r>
            <a:r>
              <a:rPr lang="en-US" sz="1100" dirty="0" err="1"/>
              <a:t>bprm_creds_from_file</a:t>
            </a:r>
            <a:r>
              <a:rPr lang="en-US" sz="1100" dirty="0"/>
              <a:t> (</a:t>
            </a:r>
            <a:r>
              <a:rPr lang="en-US" sz="1100" dirty="0" err="1"/>
              <a:t>giai</a:t>
            </a:r>
            <a:r>
              <a:rPr lang="en-US" sz="1100" dirty="0"/>
              <a:t> </a:t>
            </a:r>
            <a:r>
              <a:rPr lang="en-US" sz="1100" dirty="0" err="1"/>
              <a:t>đoạn</a:t>
            </a:r>
            <a:r>
              <a:rPr lang="en-US" sz="1100" dirty="0"/>
              <a:t> </a:t>
            </a:r>
            <a:r>
              <a:rPr lang="en-US" sz="1100" dirty="0" err="1"/>
              <a:t>nạp</a:t>
            </a:r>
            <a:r>
              <a:rPr lang="en-US" sz="1100" dirty="0"/>
              <a:t> </a:t>
            </a:r>
            <a:r>
              <a:rPr lang="en-US" sz="1100" dirty="0" err="1"/>
              <a:t>thực</a:t>
            </a:r>
            <a:r>
              <a:rPr lang="en-US" sz="1100" dirty="0"/>
              <a:t> </a:t>
            </a:r>
            <a:r>
              <a:rPr lang="en-US" sz="1100" dirty="0" err="1"/>
              <a:t>thi</a:t>
            </a:r>
            <a:r>
              <a:rPr lang="en-US" sz="1100" dirty="0" smtClean="0"/>
              <a:t>).</a:t>
            </a:r>
          </a:p>
          <a:p>
            <a:pPr marL="45720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err="1" smtClean="0"/>
              <a:t>Tham</a:t>
            </a:r>
            <a:r>
              <a:rPr lang="en-US" sz="1100" dirty="0" smtClean="0"/>
              <a:t> </a:t>
            </a:r>
            <a:r>
              <a:rPr lang="en-US" sz="1100" dirty="0" err="1"/>
              <a:t>chiếu</a:t>
            </a:r>
            <a:r>
              <a:rPr lang="en-US" sz="1100" dirty="0"/>
              <a:t> </a:t>
            </a:r>
            <a:r>
              <a:rPr lang="en-US" sz="1100" dirty="0" err="1"/>
              <a:t>cấu</a:t>
            </a:r>
            <a:r>
              <a:rPr lang="en-US" sz="1100" dirty="0"/>
              <a:t> </a:t>
            </a:r>
            <a:r>
              <a:rPr lang="en-US" sz="1100" dirty="0" err="1"/>
              <a:t>hình</a:t>
            </a:r>
            <a:r>
              <a:rPr lang="en-US" sz="1100" dirty="0"/>
              <a:t> </a:t>
            </a:r>
            <a:r>
              <a:rPr lang="en-US" sz="1100" dirty="0" err="1"/>
              <a:t>từ</a:t>
            </a:r>
            <a:r>
              <a:rPr lang="en-US" sz="1100" dirty="0"/>
              <a:t> BPF map </a:t>
            </a:r>
            <a:r>
              <a:rPr lang="en-US" sz="1100" dirty="0" err="1"/>
              <a:t>để</a:t>
            </a:r>
            <a:r>
              <a:rPr lang="en-US" sz="1100" dirty="0" smtClean="0"/>
              <a:t>:</a:t>
            </a:r>
          </a:p>
          <a:p>
            <a:pPr marL="457200" lvl="1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smtClean="0"/>
              <a:t>Allow: Cho </a:t>
            </a:r>
            <a:r>
              <a:rPr lang="en-US" sz="1100" dirty="0" err="1" smtClean="0"/>
              <a:t>chạy</a:t>
            </a:r>
            <a:endParaRPr lang="en-US" sz="1100" dirty="0" smtClean="0"/>
          </a:p>
          <a:p>
            <a:pPr marL="457200" lvl="1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smtClean="0"/>
              <a:t>Restrict: </a:t>
            </a:r>
            <a:r>
              <a:rPr lang="en-US" sz="1100" dirty="0" err="1" smtClean="0"/>
              <a:t>Từ</a:t>
            </a:r>
            <a:r>
              <a:rPr lang="en-US" sz="1100" dirty="0" smtClean="0"/>
              <a:t> </a:t>
            </a:r>
            <a:r>
              <a:rPr lang="en-US" sz="1100" dirty="0" err="1" smtClean="0"/>
              <a:t>chối</a:t>
            </a:r>
            <a:endParaRPr lang="en-US" sz="1100" dirty="0" smtClean="0"/>
          </a:p>
          <a:p>
            <a:pPr marL="457200" lvl="1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dirty="0" smtClean="0"/>
              <a:t>Baseline: </a:t>
            </a:r>
            <a:r>
              <a:rPr lang="en-US" sz="1100" dirty="0" err="1" smtClean="0"/>
              <a:t>Chỉ</a:t>
            </a:r>
            <a:r>
              <a:rPr lang="en-US" sz="1100" dirty="0" smtClean="0"/>
              <a:t> </a:t>
            </a:r>
            <a:r>
              <a:rPr lang="en-US" sz="1100" dirty="0" err="1" smtClean="0"/>
              <a:t>giám</a:t>
            </a:r>
            <a:r>
              <a:rPr lang="en-US" sz="1100" dirty="0" smtClean="0"/>
              <a:t> </a:t>
            </a:r>
            <a:r>
              <a:rPr lang="en-US" sz="1100" dirty="0" err="1" smtClean="0"/>
              <a:t>sát</a:t>
            </a:r>
            <a:r>
              <a:rPr lang="en-US" sz="1100" dirty="0" smtClean="0"/>
              <a:t> log</a:t>
            </a:r>
            <a:endParaRPr lang="en-US" sz="1100" dirty="0"/>
          </a:p>
          <a:p>
            <a:pPr marL="45720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endParaRPr lang="en-US" sz="1100" dirty="0"/>
          </a:p>
          <a:p>
            <a:pPr marL="457200" lvl="0" indent="-298450" algn="just">
              <a:lnSpc>
                <a:spcPct val="150000"/>
              </a:lnSpc>
              <a:buClr>
                <a:schemeClr val="dk1"/>
              </a:buClr>
              <a:buSzPts val="1100"/>
              <a:buFont typeface="Arial"/>
              <a:buChar char="●"/>
            </a:pPr>
            <a:endParaRPr lang="en-US" sz="1100" dirty="0" smtClean="0">
              <a:latin typeface="+mj-lt"/>
            </a:endParaRPr>
          </a:p>
        </p:txBody>
      </p:sp>
      <p:pic>
        <p:nvPicPr>
          <p:cNvPr id="8199" name="Picture 7" descr="https://www.plantuml.com/plantuml/png/HOv1JeD058RtSuf_2J6z02mir34smThG9iOLgTD7cJ0mP6QgzX0cNi6rxjor2nVr8jn4819tt-9xx_-crcsCsrUA3S02UY7nH9wFNNjwbN2oFNxNSERyMHSX2swqBl7Oc2eJXhOsouskibmg2XcJERmU8SvVKB8kBtsuWcfu3sHz1WIHKlevxCWwtJ1Ibk0jD2RepnJPpg9wAtF6Wf-tRb-WqKgA0rnx-a2yl4QrQVwMeYIvkny7PeM6ADhZ-y4VtlP2obVhT3vRywlHYfKM9IPyoTFRVo-ELZoPB_Xe9Ng72mofOywGE-ruNwb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812" y="945022"/>
            <a:ext cx="2929788" cy="352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6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image1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60375" y="1973360"/>
            <a:ext cx="2903857" cy="2533344"/>
          </a:xfrm>
          <a:prstGeom prst="rect">
            <a:avLst/>
          </a:prstGeom>
          <a:ln/>
        </p:spPr>
      </p:pic>
      <p:sp>
        <p:nvSpPr>
          <p:cNvPr id="7" name="TextBox 6"/>
          <p:cNvSpPr txBox="1"/>
          <p:nvPr/>
        </p:nvSpPr>
        <p:spPr>
          <a:xfrm>
            <a:off x="631456" y="1131903"/>
            <a:ext cx="6500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ữu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/Radix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</a:p>
        </p:txBody>
      </p:sp>
      <p:pic>
        <p:nvPicPr>
          <p:cNvPr id="1026" name="Picture 2" descr="Radix Tree [Compact version of Trie]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225" y="1801390"/>
            <a:ext cx="4298227" cy="268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144;p3"/>
          <p:cNvSpPr txBox="1"/>
          <p:nvPr/>
        </p:nvSpPr>
        <p:spPr>
          <a:xfrm>
            <a:off x="374650" y="630338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đến</a:t>
            </a:r>
            <a:r>
              <a:rPr lang="en-US" dirty="0">
                <a:solidFill>
                  <a:srgbClr val="FF0000"/>
                </a:solidFill>
              </a:rPr>
              <a:t> IP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biết</a:t>
            </a:r>
            <a:endParaRPr lang="en-US" dirty="0">
              <a:solidFill>
                <a:srgbClr val="FF0000"/>
              </a:solidFill>
            </a:endParaRPr>
          </a:p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endParaRPr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256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9708" y="1077683"/>
            <a:ext cx="23959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IOC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XDP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4" descr="https://www.plantuml.com/plantuml/png/bPE_Rjim4CPtFiL1aprbjuVyiLtOG8mA-GEqaq1JPukGGWhagKvGTExK8UZKiKFHkQkrzaNq9Zs5gc4OGW9h8EZZVH_l-n6-y2GTLG-584q5mdNLrD_D1ZBRx7uI_7rkwX_yKpNrRmbPKty5ulMPIqLJVrEmYE6nsVsgODNi_d0Lh-9tPn-ciH0lnaAKl6hIra34POYTtJZv08EsSHZ1Pm7yZMAfSYHmg51_mXGaWK7QMfU3DeHkBHMEG-lSsfmxLa_G-fN1RonU3lKQ1h5q7g4CXcHXWzHEATFKeVVdGmw01WPFw8S2kcyqUoGd5S6jhPp2jlyCfkX96zdEpeLmEnRiFJ3sG3frjkok6--hdcmP12RLQn4cdsIeyjPR6xY-kOU9L1cxCOXaUHadTn_ZMSBrP7vvEn-UZ_U9MB6sbKbP5pIz8KAh1zLsfC3ugV8GoQAmswXVqQ7t_W1NZivWiQVlYK-wNCVPUe44qwl2ghnpVKKTwFJv7E5Ql9_0KfR7iE9bSdUpcFs7rGUCbJtXtvvpT5-cal3WeRQQCeXMhIBgy9u0vdJQhyyHthL_Zdx4OVT5NF26__3_00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444" y="763616"/>
            <a:ext cx="5100025" cy="370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144;p3"/>
          <p:cNvSpPr txBox="1"/>
          <p:nvPr/>
        </p:nvSpPr>
        <p:spPr>
          <a:xfrm>
            <a:off x="374650" y="630338"/>
            <a:ext cx="3654074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b="0" i="0" u="none" strike="noStrike" cap="none" dirty="0" smtClean="0">
                <a:solidFill>
                  <a:srgbClr val="FF0000"/>
                </a:solidFill>
                <a:latin typeface="+mj-lt"/>
                <a:sym typeface="Arial"/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Chặn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đến</a:t>
            </a:r>
            <a:r>
              <a:rPr lang="en-US" dirty="0">
                <a:solidFill>
                  <a:srgbClr val="FF0000"/>
                </a:solidFill>
              </a:rPr>
              <a:t> IP </a:t>
            </a:r>
            <a:r>
              <a:rPr lang="en-US" dirty="0" err="1">
                <a:solidFill>
                  <a:srgbClr val="FF0000"/>
                </a:solidFill>
              </a:rPr>
              <a:t>độc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biết</a:t>
            </a:r>
            <a:endParaRPr lang="en-US" dirty="0">
              <a:solidFill>
                <a:srgbClr val="FF0000"/>
              </a:solidFill>
            </a:endParaRPr>
          </a:p>
          <a:p>
            <a:pPr marL="158750" lvl="0" algn="just">
              <a:lnSpc>
                <a:spcPct val="150000"/>
              </a:lnSpc>
              <a:buClr>
                <a:schemeClr val="dk1"/>
              </a:buClr>
              <a:buSzPts val="1100"/>
            </a:pPr>
            <a:endParaRPr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94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144;p3"/>
          <p:cNvSpPr txBox="1"/>
          <p:nvPr/>
        </p:nvSpPr>
        <p:spPr>
          <a:xfrm>
            <a:off x="352425" y="608094"/>
            <a:ext cx="806045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 indent="-285750" algn="just">
              <a:lnSpc>
                <a:spcPct val="150000"/>
              </a:lnSpc>
              <a:buClr>
                <a:schemeClr val="dk1"/>
              </a:buClr>
              <a:buSzPts val="1100"/>
              <a:buFontTx/>
              <a:buChar char="-"/>
            </a:pPr>
            <a:r>
              <a:rPr lang="en-US" dirty="0" err="1" smtClean="0">
                <a:solidFill>
                  <a:schemeClr val="tx1"/>
                </a:solidFill>
                <a:latin typeface="+mj-lt"/>
              </a:rPr>
              <a:t>Đóng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gói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triển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khai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công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service EDR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có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khả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năng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tự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bảo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vệ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và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chặn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các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hành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vi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độc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hại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thực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thi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file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độc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hại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kết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nối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đến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1 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IP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độc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hại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pPr marL="444500" indent="-285750" algn="just">
              <a:lnSpc>
                <a:spcPct val="150000"/>
              </a:lnSpc>
              <a:buClr>
                <a:schemeClr val="dk1"/>
              </a:buClr>
              <a:buSzPts val="1100"/>
              <a:buFontTx/>
              <a:buChar char="-"/>
            </a:pP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Hiệu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năng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ổn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định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do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tối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ưu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cache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và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sử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dụng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eBPF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với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CPU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khoảng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0.2% -&gt; 1.8%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và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bộ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IOC test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khoảng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1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triệu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hash file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cùng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20.000 IP (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phần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cứng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là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máy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ảo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Ubuntu 24.04, 2 </a:t>
            </a:r>
            <a:r>
              <a:rPr lang="en-US" b="0" i="0" u="none" strike="noStrike" cap="none" dirty="0" err="1" smtClean="0">
                <a:solidFill>
                  <a:schemeClr val="tx1"/>
                </a:solidFill>
                <a:latin typeface="+mj-lt"/>
                <a:sym typeface="Arial"/>
              </a:rPr>
              <a:t>nhân</a:t>
            </a: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 CPU Intel Core i5-4460</a:t>
            </a:r>
          </a:p>
          <a:p>
            <a:pPr marL="158750" algn="just">
              <a:lnSpc>
                <a:spcPct val="150000"/>
              </a:lnSpc>
              <a:buClr>
                <a:schemeClr val="dk1"/>
              </a:buClr>
              <a:buSzPts val="1100"/>
            </a:pP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pPr marL="444500" indent="-285750" algn="just">
              <a:lnSpc>
                <a:spcPct val="150000"/>
              </a:lnSpc>
              <a:buClr>
                <a:schemeClr val="dk1"/>
              </a:buClr>
              <a:buSzPts val="1100"/>
              <a:buFontTx/>
              <a:buChar char="-"/>
            </a:pPr>
            <a:r>
              <a:rPr lang="en-US" b="0" i="0" u="none" strike="noStrike" cap="none" dirty="0" smtClean="0">
                <a:solidFill>
                  <a:schemeClr val="tx1"/>
                </a:solidFill>
                <a:latin typeface="+mj-lt"/>
                <a:sym typeface="Arial"/>
              </a:rPr>
              <a:t>1</a:t>
            </a:r>
          </a:p>
          <a:p>
            <a:pPr marL="444500" indent="-285750" algn="just">
              <a:lnSpc>
                <a:spcPct val="150000"/>
              </a:lnSpc>
              <a:buClr>
                <a:schemeClr val="dk1"/>
              </a:buClr>
              <a:buSzPts val="1100"/>
              <a:buFontTx/>
              <a:buChar char="-"/>
            </a:pPr>
            <a:endParaRPr lang="en-US" b="0" i="0" u="none" strike="noStrike" cap="none" dirty="0" smtClean="0">
              <a:solidFill>
                <a:schemeClr val="tx1"/>
              </a:solidFill>
              <a:latin typeface="+mj-lt"/>
              <a:sym typeface="Arial"/>
            </a:endParaRPr>
          </a:p>
          <a:p>
            <a:pPr marL="444500" indent="-285750" algn="just">
              <a:lnSpc>
                <a:spcPct val="150000"/>
              </a:lnSpc>
              <a:buClr>
                <a:schemeClr val="dk1"/>
              </a:buClr>
              <a:buSzPts val="1100"/>
              <a:buFontTx/>
              <a:buChar char="-"/>
            </a:pPr>
            <a:endParaRPr b="0" i="0" u="none" strike="noStrike" cap="none" dirty="0">
              <a:solidFill>
                <a:schemeClr val="tx1"/>
              </a:solidFill>
              <a:latin typeface="+mj-lt"/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038" y="2292531"/>
            <a:ext cx="633888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0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Self-defense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28077"/>
              </p:ext>
            </p:extLst>
          </p:nvPr>
        </p:nvGraphicFramePr>
        <p:xfrm>
          <a:off x="460375" y="776764"/>
          <a:ext cx="7848534" cy="3693048"/>
        </p:xfrm>
        <a:graphic>
          <a:graphicData uri="http://schemas.openxmlformats.org/drawingml/2006/table">
            <a:tbl>
              <a:tblPr/>
              <a:tblGrid>
                <a:gridCol w="2616178">
                  <a:extLst>
                    <a:ext uri="{9D8B030D-6E8A-4147-A177-3AD203B41FA5}">
                      <a16:colId xmlns:a16="http://schemas.microsoft.com/office/drawing/2014/main" val="2178349306"/>
                    </a:ext>
                  </a:extLst>
                </a:gridCol>
                <a:gridCol w="2616178">
                  <a:extLst>
                    <a:ext uri="{9D8B030D-6E8A-4147-A177-3AD203B41FA5}">
                      <a16:colId xmlns:a16="http://schemas.microsoft.com/office/drawing/2014/main" val="3951200998"/>
                    </a:ext>
                  </a:extLst>
                </a:gridCol>
                <a:gridCol w="2616178">
                  <a:extLst>
                    <a:ext uri="{9D8B030D-6E8A-4147-A177-3AD203B41FA5}">
                      <a16:colId xmlns:a16="http://schemas.microsoft.com/office/drawing/2014/main" val="1728332489"/>
                    </a:ext>
                  </a:extLst>
                </a:gridCol>
              </a:tblGrid>
              <a:tr h="21672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động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 cơ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198449"/>
                  </a:ext>
                </a:extLst>
              </a:tr>
              <a:tr h="486052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write_file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Append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Chèn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cuối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 (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log,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lệch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4618048"/>
                  </a:ext>
                </a:extLst>
              </a:tr>
              <a:tr h="486052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modify_file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đè toàn bộ 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 bộ nội dung gốc bị mất, thay bằng nội dung giả mạo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1752707"/>
                  </a:ext>
                </a:extLst>
              </a:tr>
              <a:tr h="340944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delete_file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Mất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gây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chối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3719986"/>
                  </a:ext>
                </a:extLst>
              </a:tr>
              <a:tr h="377313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rename_file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 tên 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giấu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gốc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649854"/>
                  </a:ext>
                </a:extLst>
              </a:tr>
              <a:tr h="34117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recreate_file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 &amp; ghi mới file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sạch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cũ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7227477"/>
                  </a:ext>
                </a:extLst>
              </a:tr>
              <a:tr h="377313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chmod_file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 quyền thành 0000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dùng/ứng dụng không thể truy cập file nữa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636541"/>
                  </a:ext>
                </a:extLst>
              </a:tr>
              <a:tr h="486052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mmap_write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qua mmap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vi-V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Sửa đổi file trực tiếp từ bộ nhớ, có thể vượt qua kiểm soát thông thường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4889275"/>
                  </a:ext>
                </a:extLst>
              </a:tr>
              <a:tr h="486052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open_write_only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 trực tiếp qua fd</a:t>
                      </a: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 file descriptor,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dõi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04" marR="58604" marT="29302" marB="293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581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58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Self-defense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213043"/>
              </p:ext>
            </p:extLst>
          </p:nvPr>
        </p:nvGraphicFramePr>
        <p:xfrm>
          <a:off x="400050" y="1026424"/>
          <a:ext cx="8342793" cy="3079526"/>
        </p:xfrm>
        <a:graphic>
          <a:graphicData uri="http://schemas.openxmlformats.org/drawingml/2006/table">
            <a:tbl>
              <a:tblPr/>
              <a:tblGrid>
                <a:gridCol w="2780931">
                  <a:extLst>
                    <a:ext uri="{9D8B030D-6E8A-4147-A177-3AD203B41FA5}">
                      <a16:colId xmlns:a16="http://schemas.microsoft.com/office/drawing/2014/main" val="1335127014"/>
                    </a:ext>
                  </a:extLst>
                </a:gridCol>
                <a:gridCol w="2780931">
                  <a:extLst>
                    <a:ext uri="{9D8B030D-6E8A-4147-A177-3AD203B41FA5}">
                      <a16:colId xmlns:a16="http://schemas.microsoft.com/office/drawing/2014/main" val="98859719"/>
                    </a:ext>
                  </a:extLst>
                </a:gridCol>
                <a:gridCol w="2780931">
                  <a:extLst>
                    <a:ext uri="{9D8B030D-6E8A-4147-A177-3AD203B41FA5}">
                      <a16:colId xmlns:a16="http://schemas.microsoft.com/office/drawing/2014/main" val="2887563877"/>
                    </a:ext>
                  </a:extLst>
                </a:gridCol>
              </a:tblGrid>
              <a:tr h="32416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động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 cơ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102659"/>
                  </a:ext>
                </a:extLst>
              </a:tr>
              <a:tr h="55107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attack_setnice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 đổi giá trị </a:t>
                      </a:r>
                      <a:r>
                        <a:rPr lang="vi-V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nice</a:t>
                      </a:r>
                      <a:r>
                        <a:rPr lang="vi-V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(độ ưu tiên CPU)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Tiến trình bị giảm ưu tiên, chạy chậm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089252"/>
                  </a:ext>
                </a:extLst>
              </a:tr>
              <a:tr h="55107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attack_setioprio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I/O priority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 tốc độ đọc/ghi I/O, tiến trình bị chậm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979386"/>
                  </a:ext>
                </a:extLst>
              </a:tr>
              <a:tr h="55107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attack_prlimit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 giới hạn tài nguyên (ví dụ RLIMIT_NOFILE)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Tiến trình không mở được file/socket, gây 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437827"/>
                  </a:ext>
                </a:extLst>
              </a:tr>
              <a:tr h="55107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attack_kill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 tín hiệu kill tới tiến trình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thúc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ngột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323535"/>
                  </a:ext>
                </a:extLst>
              </a:tr>
              <a:tr h="55107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code_injection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Tiêm mã hoặc thay đổi hành vi tiến trình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logic,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chiếm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quyền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mất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6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8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Self-defense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746462"/>
              </p:ext>
            </p:extLst>
          </p:nvPr>
        </p:nvGraphicFramePr>
        <p:xfrm>
          <a:off x="374648" y="1187958"/>
          <a:ext cx="8415390" cy="1036320"/>
        </p:xfrm>
        <a:graphic>
          <a:graphicData uri="http://schemas.openxmlformats.org/drawingml/2006/table">
            <a:tbl>
              <a:tblPr/>
              <a:tblGrid>
                <a:gridCol w="2805130">
                  <a:extLst>
                    <a:ext uri="{9D8B030D-6E8A-4147-A177-3AD203B41FA5}">
                      <a16:colId xmlns:a16="http://schemas.microsoft.com/office/drawing/2014/main" val="1825717259"/>
                    </a:ext>
                  </a:extLst>
                </a:gridCol>
                <a:gridCol w="2805130">
                  <a:extLst>
                    <a:ext uri="{9D8B030D-6E8A-4147-A177-3AD203B41FA5}">
                      <a16:colId xmlns:a16="http://schemas.microsoft.com/office/drawing/2014/main" val="117556210"/>
                    </a:ext>
                  </a:extLst>
                </a:gridCol>
                <a:gridCol w="2805130">
                  <a:extLst>
                    <a:ext uri="{9D8B030D-6E8A-4147-A177-3AD203B41FA5}">
                      <a16:colId xmlns:a16="http://schemas.microsoft.com/office/drawing/2014/main" val="2712678725"/>
                    </a:ext>
                  </a:extLst>
                </a:gridCol>
              </a:tblGrid>
              <a:tr h="159616"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Hành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Nguy cơ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546697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r>
                        <a:rPr lang="en-US" dirty="0" err="1"/>
                        <a:t>load_module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Tải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tiếp</a:t>
                      </a:r>
                      <a:r>
                        <a:rPr lang="en-US" dirty="0"/>
                        <a:t> 1 kernel module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insmod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finit_module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Thêm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lạ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mở</a:t>
                      </a:r>
                      <a:r>
                        <a:rPr lang="en-US" dirty="0"/>
                        <a:t> backdoor, </a:t>
                      </a:r>
                      <a:r>
                        <a:rPr lang="en-US" dirty="0" err="1"/>
                        <a:t>thay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đổi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hành</a:t>
                      </a:r>
                      <a:r>
                        <a:rPr lang="en-US" dirty="0"/>
                        <a:t> vi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62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95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03247"/>
            <a:ext cx="9144000" cy="54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74650" y="4756150"/>
            <a:ext cx="3968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B4B4B4"/>
                </a:solidFill>
                <a:latin typeface="Arial"/>
                <a:ea typeface="Arial"/>
                <a:cs typeface="Arial"/>
                <a:sym typeface="Arial"/>
              </a:rPr>
              <a:t>www.viettel.com.vn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3175" y="4756150"/>
            <a:ext cx="975214" cy="214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12560" y="124736"/>
            <a:ext cx="21473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Viettel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Talent</a:t>
            </a:r>
          </a:p>
          <a:p>
            <a:pPr algn="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Intro to eBPF | Chris Sho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Google Shape;143;p3"/>
          <p:cNvSpPr txBox="1">
            <a:spLocks/>
          </p:cNvSpPr>
          <p:nvPr/>
        </p:nvSpPr>
        <p:spPr>
          <a:xfrm>
            <a:off x="3408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0033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EE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2800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IOC block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3" descr="data:image/png;base64,iVBORw0KGgoAAAANSUhEUgAAAtAAAAFfCAYAAABnWfsMAAAQAElEQVR4AexdBYAd1dX+zsx7by2OS9EEdylWXArFPQmSkBBCDKsCLdL+pUpxiAd3p0gpTinu7lAcQohs1p7M/333vXk7u9ndbJJ9m91k3s43188999w79545c2fWC+JfLIFYArEEYgnEEoglEEsglkAsgVgC7ZaAh/gXSyCWQCyBbimBmOlYArEEYgnEEoglsHgkECvQi0fuca2xBGIJxBKIJRBLIJbA0iqBuN3dXgKxAt3tuzBuQCyBWAKxBGIJxBKIJRBLIJZAZ0ogVqA7U9pxXV1JAjEvsQRiCcQSiCUQSyCWQCyBhZJArEAvlNjiQrEEYgnEEoglEEtgcUkgrjeWQCyBxS2BWIFe3D0Q1x9LIJZALIFYArEEYgnEEogl0K0kECvQC9ldcbFYArEEYgnEEoglEEsglkAsgaVTArECvXT2e9zqWAKxBJZeCcQtjyUQSyCWQCyBRZRArEAvogDj4rEEYgnEEoglEEsglkAsgVgCnSGBrlNHrEB3nb6IOYklEEsglkAsgVgCsQRiCcQS6AYSiBXobtBJMYuxBLqSBGJeYgnEEoglEEsglsDSLoFYgV7aR0Dc/lgCsQRiCcQSiCWwdEggbmUsgQ6TQKxAd5goY0KxBGIJxBKIJRBLIJZALIFYAkuDBGIFemno5a7UxpiXWAKxBGIJxBKIJRBLIJZAN5dArEB38w6M2Y8lEEsglkAsgc6RQFxLLIFYArEEQgnECnQoiYV0gyDAomAhq42LxRKIJRBLIJZALIFYArEEYgksJgl0MwV6MUkprjaWQCyBWAKxBGIJxBKIJRBLIJZAQQKxAl0QROzEEoglEEugpBKIiccSiCUQSyCWwBIjgViBXmK6Mm5ILIFYArEEYgnEEoglEEug4yUQU5xXArECPa9M4pjOlEDAyqJgMD5iCcQSWMIkEL3Go/4lrJklb05UdvKXvMK4glgCpZPAorw/prKl46x9lGMFun1yinPFEljMEoirjyUQSyCWQCyBWAKxBLqKBEquQOfY0igYjI8lSgJh7zZtVMuxTfPEoUYJhPIK3caU2Ne5ElAPdG6N3aO2WC7do58WjEv1ahRh6TAuDC+yu5AEQj5CdyHJxMWWMgl01ngpuQId7TcPYbOibjTH/PzRcp3pnx9fzdM7kzfV1bz++YT16G9B0YxkWGsOYa8qRshn1MAS8qHCOaDbHMYyApN0BAzKXRCoSHOovOIyuVyLo05pIZS3dbQvV0vlw5KNrnjJo3n+qKyifjSXl8LNC0fCQZBlqLFGBtAijZbotBTnCOgU0pS/EyGeQrhqQz6auy5xnlP7czUr2qTOZmlLbVDSXMTGO7nyFAhATsN1viQ7oN751tFyhhznj5ZTFjVWbYpiAelpzhSKxRaeluYbdUdHNTXKyYL6i81pwSMeW4hewChxxLE3v1LKIswvXynTVf8SDmP72ou2Ra1+FUiQGTWmBXqbfGZY4Y5EWEdH0mxCy2N7HJwak0F9w1xkkWaeAHPr5qKmvqYIhYXq2jnFtNqGWtSn69CQrXfIBBnUpmsxs3ompv/wHebUzG4XRFMQfSGsV+qMaIvOjFkzoDztQU3NHAhz6Qq1c+dA0IqQTdejrqYa1XNn58H2VNfOIu0WUMe4CObUzGR7ZqK6EDe3fg6EmoZq54r39vAX5hGPNTVzHG/iT6gnr42oQf3cCKrrUF9EA9hZeeQCDsSs6wt2KTLUyjLsRQ2gDPvWiBxj69MZNNTn0NDQgExDHTL1GYIpjMs2Q4Z56utqSIUD3+gQupjoA7uZ5RqQTqehRUyKcFMAGRZzIEMZat6sCSTB4gFHWA612TpkvRxVfGAueanNkl5QAFfuNNuU5gJOlhEiy6FZRCZAjvkFLvWor6+XU0BAl+kszwrZZqCuNgey4ZAlbzwoFWajrHIUpDC3fi6llHGhdDbr0lWeWRyfkqfCGcqtmMiqlD4PlNFBGYAsnRwX1SxbnwV5ZU1hcpayZmPgBMR8RVqqROECs3Nm16O2RmUBt8dMaYKjlXP9or4RrbqaWqQ5RFpF2hWEfq4MPU4+XAml6It+bX3a9SOTUNtQj4ZMGroeHTJZNLA/xLpzHT2P6bXkOkcZSviC6hFIRe0oeNM5MtfYUCbC1VVbn0VWg9fFKHMUhR7QQBJcnvg0jwQkMsmaCdUzeQ0z3NCQ4VxeV0AN6urqoGs3XZfG7FlzUFfDzmQ+cBAGDuAYg/tl2Zuag931TLrsetdXmu+LoIaXnwPAeSjfgTk3EvJnR0inQCeQYhYaAy2C156uP9HLcoxoXhUPrJoUUUSWY1XU6jnI58ytzvPETI5PDj3HZ8TVPFLDeUDpKicwe5Ge6svHKdaQ4YXREnK5jJYScKnD3Fm8Rjh3kk0VLUDlc5QfuedNs2jomqnP1PE6qqV8GtBA5sI25siBgKZE3JxTIEhaQNpdY0CG6209116tk7V0o9B6LDj67AZWA7XXzT8kJvEHnC8EXU0NlCFFxBTSJx8cBVA1gso5sBCnW0fHhdk8uSpfW1vreGP352moIucjn6H8mCjZzgOluzTmJU2th+DI0NwjEnI1F8kfQnNUPaeOubVAdU0D5tbWF1FTX+fGt9aCPCjr+tr8Wsc1JhNBPePruL5pbDVHbe1cCOJHqKuZy+tjLupraxzSLJtphjRpNTBf49o9B/Pzz509EyrjJjzOZ1nxV6AreoLShfnRUvoP079F9awfoHKiKVcIy9dVz0bNnFlQve1BNfmrp64ELbrs7CDTwDWmEUoPMWfWTEQxl/VIn5G+JbkjcCOL3chBybP6Uf1Lb/FQOIpiwkJ6yPJClmxPMV4UxetVfiRR5vdEUFuGXK2P8mxPlGcqUZGtRGWuElVWhSqvCj0SPVHlV6HSKlERVKAsV45kQxlRAb8uhYpcFfqk+mHZqhXQ0++DHjZ/VKE3hIpcT5bvifJsD4dgboI0KxydfuXLoofXOw+/4LpwT9bRFJVeTwg9Er3Iby9UpoiyXrBsAgm2pyLH8rm+6GmE1wc9/X4toofXl/URfh49k8xH9Ejkw1WW57sy6OX4r2K9RR4db6zHxfUkHcIKKMRVUpZCRVlPVKSIZE+U0S1jvINfyT4hvBDlKPMKsBRQx46WPlVnsAYfZX45F0UgxQXQQ/6XQgIZzoYeY8v8BFI+fabYcqYkCA+JwIPP6TqKRJBCmdeD81nCzevZBg4Sn16Of2NUoiyFZDYJr47l65uBE1yigBT5SzYoPQHqu/ACg+U8jiG2g7WDv8pkOcMppDJEWvBR1mAEkOR150B6fhRpg8ex51k5efQotzKw2SCHhDHO4DF/biaQygHlnkcZwUF0EkxzIJ1E2kcik0QlelKmKY4TD0nfh8cmIwTbneOkDZUrS2i1YV7kwTY6nViu+kT55DIvMsYFj/nc4bkzQIZyPjCXQebz/RRQb4DKiYbAeNQyv+LkZ1zPsjKUpdlOrnhGOTreRCtIAJkE+YZDUGvsmwokyXOSeVuGITsHANPVn/TB2FYjXRPNrKEcSUhWAeuvQBn7IolEfRkSdUS9jwR5cjJkOxPsL7C+FOcGL5eAz7Io9K9oO17ZbOdnuaSXYv9YAaDL3CxfYT58Q+SnQkIkKva2IoGCnEL5sW979KyErosk+6TSL+e8KFSinH6P132S/dSrsifKq5KgrodAJAR6wn5gj6An51LX3xwLRbcugUR9iuOArq5xXmNKSzUkELCPPc4pgIh57qyT6qD+CavzWS6FZAPBaz7ZBD6SvCYzsz1kZhuqUlXweb14bI9Hcg4cq0nzQF0SyWwKPZM9kOBcofqLcOMSSBTcJNMryzwX1pgWP4j8EuRfN+0B14n6uQa/PoUE17RELdsXgcd2e5RD0geqeieRIB8g7UZ6HvQzjmXjvJzQvOZX8AqqRIXR5fybAtsY+EhwLvSELMtwLgJ5dWBbRUPQPOSzvRmmZYmUX4Zy0qn0SA8VTf7KgnKUWTlSpJ2krBKkk6DrE5KbTzo+iXq8ILPUrpO83j3m0TyQUB+y3ySv/LwNJFlfknEptjch0O/kq/aSTnmigi0BZQCn4CfM3DjK06Pc6gUPiXnWCMUxTXWyDvVdZWVvuHmMNMBfOsPK6PK+Iz+M2AYjr2V0qwzokUihKlHGtYPwyqinlKMyU46yTFkeWcqaSDAukS1HFGWZCki/qcxUsUxTVDAuj56oyPRkviqHskwl9Z1KJFk2IboRJJmWYrky5m8Xgp7kvQ9SVgVQRqgGfPEp2oToJRsqkUpXOZSle3Lubxt9ey6PHmV9kQwqHU1HQ3wFVRwTPVHu90Jlsjeqyvq0Cz0q+6Is0ZN9kgJ4PRj1POP871z6eySpB6UI1tmrvC8cKugSPVhHRXlP+Nky6pSVAPMj4wGyXnGeVz+Ca0xHKswcKk0O1tYkvOgBXjyIQlc8J0o3a3IBDH4AElywP3kW+PJF4M2HgDceBF57AHj1XuDle4CX7gRevp2g+7//Av97GvjsmTy+egH4+EmWuR94kekq8xr9r91HGi1BaRF8SnpRzHgN+Op54L1HgNeZ79V/kg+BfLwaheKI15vh86cAh/+QDvEl8RnxMfEB+XyVPInOK6TVEpTmcDfrJf7HMg5PAJ8SnxAfR+DyklZr7utMcyAtuV+Qvy/Y5i/Iz1cCw1/T/ZpxwltsjwNl/1YzvME++e5V4FvK6GviC+Kjl3kRas5hH3tyNWI40SWDJBqmA9+9C3z/dh4z3+Q18QZQ9zohtxnmvgN8+RYJkFbACc5PGQM5Wl44i9KXngFMJ43vWe/35EOYTtfhFaaFfrrfk68ZdMUrePEkCHAiBOmC5HyFvwe+ZblvX6T7EvANy3wn0P+dQP/3TA/xDel9Tp5FT4tXpo4EAzZWEZxg5TR8zv4nvZnMp/rDss4lzekC08M6Jcf014DHawA1ZIokHZ8FetVM+5Q8/EDZfMu2zyYPcxmeS96agHEzmfYN831KmSd8CiybhUclwEcZFxxGZH1kvgB+4PjOUoaiM4fliiDN2eRvtlzGq6469t1M0tNk63QTNZL9g6zHiQlo4M3C58wz9xvga9b9A/2z2faW8APjv2We6e+BA4HQUWxvBjSWU8kBPqF81N4v6E5nme+JHzhmfiDPP1AGqiPEN2zLHKZjNonNJaQQZNhW3kSoj9TX08nTVyw/Q3nZrmq2cRbbOJP+DPvLlW1gWQFGj4QfgsH4oARCechlEOx/B4UzjKCrKIreiXAWYIyerj7juJxNWc+i/zP2wfSPgfcZF8zJ5zGOAeO4Ml30dbwQuLB/w3m9huNkJvvOgf2ua2om+9GBfT6Tc8UP7MvaTzlvkB5mwo1JsSHFzSlpHKt1pPcFx90nzPstyxfnC/I0PQTLi9ccx8Mc5v3mOdLitaLx4+YMjQ1hbgZ+ksOXbaj9EJhN/mYz/2zy4vyhq3hCc8oc0v6C61s1+RQtx5vERd70RC1JmdVwbvuSdGYQapdrVwTfFwAAEABJREFUM8tH3R94HWq+0DXwKa+N2eKPMnbrKxViUAkn11C35L7i+si1Yy7l5kB5VbPtgviZw/Gv63wW2z+zALUfFL+uG+mTXgKoKDPwITEyXKc/Zr5Z5KmaNJvD0WT/6loUNHdoDsBsciS5NSRoSEi6echnv/ucNr8mPXddky+5xeu8EJ5BnqN9Pp2ynfsl4BtpUna6h0gmOHLIs/j9lOnKUxwfYXm6M8iz5pLppC33O+b9jrKu+4y0JEPS4BCER93EeBOSKOfc9i3HFfvtW2Imx6Pmxo//DXxIfEC8T7xHXeVduu/8C3iH/i+pmxTBNfUrrq/Cl/R/SZ3lLeZ5m3iLZQT5BfmjeJPpgsq4sirfHKT3NvO9TZ2pXSCP4vfTx7hWsj3qJ0c75Jn0xF+RD9J9az54lXrZO9RpPqNO8i2vGbe+8TqbzvE5nXW8Qx1K6e9Ql2gP3rqL8qV8JLMZpPMVefqK8ncu/W+T3tus723Se7OAN+iGeJdlP6KceInyImXf1iSAOg4WPgoK9AiDayJyDDOpFIfmnvnSXagMIc9ydbFn2DBeWNdMehdH7DUNI4ZMwAnHXY+Rwydh5PGTMOqEKRhDjBs5BSeNmoaTx16Jk8dMxvFDriToDp2K44njjpnGMlOZNgm/OGUSxoy8HKNPuAyjR7aCEy7B6AhGDp/qyss98fircPSgqzB86FXMwzpZ38ljJ+Kk0ROISThpDHkRRk/DSQWMVXjMVJzEvKeMm4IhR03B0KOnEpNx7NFTcOLI63DiCVfhxJFTceLxE9iOCRg3ZjxOGi1MpNscrGf0JLZnsoOjd8xUDBuS5+uEYVeTzjUYNeJah5OY9yTHwxQU3QJv4nEc/eNGX8W0q3HK2GnkT3xNwpBjp+CYIeRX7jH0E0cfPRnjTpqEMWMnO4weMwmjxwpT6E7BWPbD8MF34fhBN+P4oyeyH87D5RdNc4uWJl5ZeTIzOTo0ijhBXvjXW3DEQb/DYQdfiMMOGo9DDpmIww6Wezn9LeDgf2DokP9DhguelQE50tBjId8TQeDdd2Zh4JHnYdDAiUUMpr+IIydi8JHjC5iMgQMv5Tj6O77h5KmFi5xxVuRZE3CWF+o7s3HUwN8TVxCXEXIn0J3UiCPpDzHwQgw6/Ew8+S+udmQpUcGVj+SKB8f2aafdhGOOvgCDBk3AIWz34MFXoAjGHTVwCtOmkf41xCTy+nvccydX2AypVPKaIA23IDKo43enU4aH/wUHH8S6B16MgYPHs/zkFiE5HHzghfjtmVe6R72ZrIiSimiCDNN75hm34YjDLsHBB0/GwEGTMXhgBIOuxKCBt+YhP9P3+9lEHHroOUCKhesIWhBRoCU+n3xiBvbd5zTsv9/5OOqoS3DQgZfg4AMvaxEHHXQZjjxiEg7Y//fgE3BObKQXHkHeM5uK+Ihhf8Chh52HocdchIGHX4GBh03DkYfdgCMPF67CkYdNwJGH/wNHHvYPDDzicuy37x/wn4c+BNysSToFWvRhJhfBE044l/z8H4YMvZ5tn4gjDp9ImlNZfiqOOPBqHH3INbhtKldmtc+JjIPPtdETiRhtSCDQIKCscoQUEF1nj98+FycMvgVH/fRmXv8TeM1PwOEHX8br4RIcd+wkupfi8EN/hfepwMxDOpnCNx9W44Rhf8G+e1+Eg/b/B3EpDtrvSuL6Aq7GQftPxEH7XYyDD/gr8/2fo/fGaw3zkIMP8CEY+/yvOOzQyzheJmHg4RNawRU49KArcNTAS3DEIedjwmWcOIICSblCioOMhoJzz7oe+/70rziQ4/7A/S7BgftPwoH7TcGB+08griji2MFTyNtUDDriUpx15t2AAQ7I/zyZeum99JJ7eW2cRVldRkxpGQdNwUDOHwcdNAmHH3YxzvgN6bFs8RB/bvwCjz70MY4eeLprz6EHTqM7BYccOAEHk7+DKbtDDpzEuEk4/JAp7joYePg08vg31M0uUBOf8pJmBQ2Cb1IUw4ach0MPvJyY2gSHHDCFtKY4+occcAXruByHHHA5++Z3ePkpav1pTrak44ZKjn5dXrzWfnHqFazzEs6pU+hOKGAS3UYM5HwRYtDh5+PxR3hnwJsP2eHEntwk6enpwy9O+RPL/o19fMU8GHTEFUwTXbaTbR182BUYfPgfcOWkf8H1x1y4dSyRouWSXrCPb7nxWQwZfDaOP2oyRh31AEYd/QROHHY99YUruQZfyfX3SowZdRXGjpmGceMIrq/Hcq0+9pjJaIJjJzKcx0nSJ4iTx0zk+j4RYbjRncC4Rhx77AS0hXHjJrDu9mEs9Y5RJ47HsOPGY9CgiVyDJ2LIkIlN6J90EutuJ8aNHY9TT7kCY6jLHHfcBK57k9jOaRhy7JXOPYZ60MnUJ8aNm4ixYye0Cyex7hNPnIjjhk7B4EFTyNtEHHMMaRegNgijWbdcYRzrlyucNGoKxrD8QOqUEy+gBl4LBHVlyLE/s1x0dNNlFg5udXTHorQrhi4itYDXkAb+NZd9hr/9+Rb0X28z/PmSkZh402Bcf98IXH//CFx333Bce/9wXHPvcFx933G48t6hxPGYcPtQTLiN7m3D6ArHFdwRmHTHCOYdjWsfGNMGxjGtEROKdERrCGnlMfH24zD5zuMx9e4TWO9IYgQxvADxU8A/h2PqP4cRx2Py3cMx6a7hmHjnMOJ4TLhjOC687ihccvMQXHHbMEy6eyTzEfediKkOot0cqmcEpv3zeIep9wzHlLtY9o4hbB95u/1YjL/tGFxx69EOV96r/CFfoVvg7d7jMI2ym3bfEEy991hMvue4Al8jSGO4w+W3D8cVd+Yx/q7jMfGeEZjMuoUppH3Vv0bglieHYyLbdciw7TGnNoftt9sdt1Au5/1jME47/WBo7Uxn03xSkkaCk5ksGKA77IR9MfmaMzD52lMw8YYTMemGE3DpzSfi0ptGUybz4tIbT8WFE05DQnMYJ1gvycEdUHMzggvDRlv1xuW3/AKX30Y6ESjciBOZLhyP8beMxfnTTsIKG5IOdVPxCbnGMBfWtbfqhYk3n4GJt44ixhCjMOHWkZhw24h5cMXtIzDpllMw9YbfYcc9+8HRkYLviHpwkzBpn/KHwzD1n6eyjSMx5e5TyO+oRpD25bcNxxW3HUccgytuHYHLrvk5dv7ZhsixrFtgyJcWfQe2/9TfHYab/vlrTLv5FNZ/Ei6/9URcfOvxuOiWeXHxLSdgKvP9/s9DkWDZsrIy6HJzvIE/0h5x5r6YeO+4fHnRaYKhuOS2w3DR7cRtQ3HRbcdjwj0nYMLtpwO0yDiove46ztPbdpd+uPne8zDlxtNwxbWjMOm2cbjijjEtYtJtYzDhxhGYfMOpSHJRdvTIk0hCnU1/z5WBC6aOwcVXjcYF04bjihtH4oqbjqOsBuGKWwZh/K1DMPG2kaznNIcpd43GlDtOx08OWhtOZgnyFYIy6LMWcP7k03DZLeNwwfWD8Y/bTnC46NZh7KNhOGbUfujdeyVccN6/8YsRNIlJgaAeFtByT0r5Q+3N+5biM8d4vqPyMijIJHDWHI/WRUbXA38b9wXOGX0bkuke2O+AH2PqTSMxieP+CvX9reM43kdg2o1jcf2tZ2OdjVmGfe7I6oIydljK5/XaA3+bPA6Tbj8Zk+4QxnBeHYpJdw+mKxyLSXeewLRxuOI2pf+ac/VvsfH2qfwY0ID38rQDPr5NVQDTrj8JN90/BpffMAKXcEyFuIx+4XLyefmNo3DRtSNxyQ2jMPmO07DboWtB85i7MSNrzmUV2XSA0/80GNPu+hUm3jEWE8nLxDtG0D+cGImJt48q4rKbh+PSG4dhyj/HYvTpe+T5C7LuUg8oQ5/m1HQ9bzhO3BcXThyDCZwbL79lOOeMPK6gP8R4+iddPxyTrxuB6+44CSf/au88PTbVHWqzxj7npW33XhMTbj0bl940inPucY7eeF43E+4YiYl3nYCJd47ABPI8nvP/ZboWbjmOsjkV5f1IySfCg/RolMVGmwMXs08uu/FEXHLTsCa4lG287Fbyy36+/NZR7JPRGH/7aEy47Xfov8XqyEh7IR0nP1qM3c04++S35w/GxZT1xTcdh4tvHI5LbxhOdwTj8rjk+rx7MftMuPS6k7HNziuhlmuDhotjUbwSRvrn/uUEXH7jyWyv2pzH5Wy/cAX7VnPPhBuPgwPrnXTtr3HY0T8BuLZAa46BTzsJESbNPfffmHrJENzAOfKne++Nb7+fjoOP2xIX3TQU0+4fiol3DcWV9w/BlVxjQ0y7bxim3Xd8EVMfOB5T7z8B09qNkczbiCn3j0RHYeq/TkSIyfedgBALTf+BEzH5gVGYQlc0JlJfuOSO47huDIXcS6kHXUF9YtK9JyxQG8TXeOo9l1OfGs/1Z/w9IyFM+OdITLr/RFffVawzimupT117L9O4vv7l4hPQf50f46pp/8WkK953a2COC2zAJ1yBBrP6t0TQJVga0hycmtcEtgNpPhK65dYnMfiYgTjvws2x9b7AjzYG1tiC4MW6RgFrMrwW/WvJJdakX3EhlF/+/kwTlFfhhYFohQjrkzsPrS2BYpz8EaxF/zwgb6ITxovPEC4+TKdbpLsofvKwZoiQTiEsHvrTXwTTQ17krs3w2kwPsdqGQK9VgHW2Ak767bo4/OiD8eo7L6OCE+3mO6+BlVfvRX25Dl4qoA5kbveBFgatEMuuVYm1t6zA2j8GBmwNrL1NHmttSzcKxSvPVoYNtuJMxslL40Q03OKqsaORyUlynU1TUB+vQx5DtNYWtWct5tdkm/O5WokOF8CiosVFca1NE1hrMyDsByd/jbECVqcruHHHfAM2KYcrL35oPQpcY3nJKEz++m/iY23mW5vlWkN/pvdnev9NgXU3q8LyqyVgJOvai8LP6BJrDDCssQ7H2/rAWhsAa2xEsJzjk30VdUV3XdJefS2WFT90Go8EJMv+5D8sIzk2AelJDpKbA3nUeOi/WRlcf6DwM8rS4ypNmVYtBypC5VhjPcNaGya4YAKubSzbkrsu+Vt3k55wMtRoMdJ0yPNn7P6Nt+uHjbfvg4126IF1tvGwznbAAI4RoT/HkXhck3SEtSiL/uxD9TH8HByfogf+6Gq+XK1/T2y5bW9I3uuwjQM4dhzoP/j4frhs2h64+qYhePGlt/Grn/M5pBRo3eSLPymI7GP1s0CqS/fBrnfjNHQpjZzEzmv2b+e+j3vuehi///2xuOz6fTBo+BrQPK7+cvMO5a3+1/WxwaZVcH3mkQD7iWcg8JHV21oJjqnNK11/DdjUx4DNDAM4ngZsxnEgl30+wIHxm5Rh7U2SGLBJL+RSjgpPIppn0DhOa+tmYd2Ny7E2r6H1yMN67P8Q6zIsaFzk5xMP62yRwIAtSHtzannkRdeNG6/iM0jD72FYZm1gdfGzdRnnNkLzl8DxqbkuRH/Om4Ibb2wTEhIWQS5h4jGNZCqBfssB22y/AgawrfRpnNEAABAASURBVI4X8iXXtVttDqE6Q2zCBqupbu8TacoVXV6uVcsC621Wjv4bA/03AdZqhjUL4TUpR11Da5Omu45Ez3VwhpQIjn0ppz67a5PtemLdLTy3Fmg9cKAsJbcB5Ne1US7RX9gshZ7LlyPRoxL5tvKi8sgnkSOP627ZG+tvlSA8rL91AusKlNe6BaxDWbo6GJZ/3S0TWGYVQBZxRH/qlwSwwWbLYADn++K8wza5+U1uCMrRxbHda2ycwrKrsWE++UqSoBE8NJ7V38uvVokt91kLVQOAex95AIcPOQQn/m5dbMi1a1XOyZLbKpRvFD9iuAk2yus1TeKa54mEV2P+KFZnWlNw3HWhuDWa8SKZRKFxtjD8r8HxqbIhrbXVf+wzxYneaqw3KqdVGV6VsluV5TbgdXjWnzbEvgf/DHfe+R/8wKeQCV7K+thEhoa+nJ6CsJ9LcbjLp0MJa1CG4IWTbpgDPZ6fwUf9X3//DYaM6Y+gHMjS1F6vO0vNKS2B152s1u7aDv1RN1omGr8wftFqrRyvNa2rjo9IPs4zELTetgrS1IIuOBqixTjXro5yRTOKCN2Qvwz5LoKdzWnS3YTLjRZVHt64oawHqCQDMsoNGw18/OWreOKZz1Fbm8GsujrUc8ZpoOairafZRIBMIou01SKXayDYtySapVCy2Sx4QDsLOI7di7ZytfXDgfn4lAVasLiWgiTB0oA2SVLgZBva/aNdBMxaFGHozxl5FJB38+UZ0OExQS6dQHClSVEjnou/6nT5WworjmVUvJhHAS/Du9ssOUtDX+bI8s5Qb7nX0+pVn8mhlo8uG5FmOI36NNGQRbo+cNsYkpq/Of61SDnaqkdw9HniwuAsN5rgyYfa7tpJ1rPNkGZfq8/ybQmlQhruYGG6dQ051DFjS6hhmj6MkHdrUJOuRm1Dmm4DSxYOxxsrsgyc2VFe8ualciiryMLVzao0VprDpRnyP/IOF8Gg/KTjrgP5NVBJSl3kxgWr13YejZUM/WnJrwC94JSuU2EW1IVFhx1CojoCijTnHuGLdrqmAT6F5nMCNVoBNZZmzwmQYx/opu68SwbhkYdexKMPAvrACpyGJ9qiFcPJNaAcBDo61FWS7bsvA3fc/QhO+/Oh2OZQpvQE6lJ0Obbd+NU4FhTHaBcn13QqgH6/LIVMbRrsOLg8HFvOYqlyLcBXOq9fP8kBU5gnUPxlkOWz/YoqTmBUkjyVZ14pRyH0LqwD43VtuSHpkQDDzk+vO8ibC3s+Ao6zDK+VdF2ALMehrNwcTmB0HmRFMmmCgswCDrpA48opz0AQUJO0Msj47nOR59ThXgDOZEHLbQ7ZXB4BBc2DBciNaIkfQZGq3FXGNA1X8a62kp6To9qjvIL8IRjm4Zpl9PBAXtEVEbhfOl0Dl0Eh1aukKBQXRZgvjFNYF7Jzxb4SRABwT8eKvDCeBgnXLxonakMUxXxo+WeMVh6ScaJQFfILTGo8ChFhfo4LlDHAQ7IyL8vmNiCg3OkBON988iHw2ZxPcMhxeSpav5zBQ/yxn1zzVB8RjgEud1wTkAfjRU7dJBQX2wzpFaB4QfkETlNwYFmNiTTZ7pIgfyFfagqHN7R2y81SpoLiwzztdVVGZQXREuQXlCY6Tj6US9FlfW7OKANSqwJDx66Fb2f9gHc+APQRK32BqyGTplxZiKIP1El0O/LQEOxIevPQSpZVoY6DspIXeG11nWuYBqPPOU4b9zW3tAmfJAVdZELopzUMDkxXfAilC2G46FKIVPaa1KV8gqQgtyWovCZtuREY8wqcX+FF4qP0FS9FSflcPMu4CaMj3ZbqLvAb1ut4ZJ0tuT7bHkIvosnPawSzq+dA5VNcECt6JpGqKIc+kpHmbNKQySBNpUT5dPEERh8nQylQGtBa5HzK2k8YfPLnwuQpdPX0XoubkCR9TWQIf56uCkBKryZ3TS7hJFW8cNiV8ivNgWG5WoTcNZInkacovzEDQ+IzIDEHampBkIEA+sF4FGditof5EQSQ08hfPt7M4HkefJ9IGpIpoCxlqCjzIkjQn0BZGVHuIVlhSJaxBs0EmhHyLMHRFo8oRMgvgD8pCAXFNXB+zt5NXCkejOONKpSPRZof5RUeokgxHCIfj3w6+Swn1Iby8kSRTFCQHZy2Ad4E1BfSyC/r9XxA49y58reCfCHLO+GZY694PahKXs8ULSQTY5poJlJAstxHknwnK3z4VBKS9FOSaO2Xq+XNXLoWyZQHeOTXQtSh1zKGIMmSrO/HfJq70fpb44apr6CC85F6N1DFTHaHG4TOF58kAQOVPLj+fuieevSqXAEHHV2F1DJADYdhjnLVdRk4zUARWeR0B82yWd0NeQELM2BEePDGM1GR5E12Dk6BMSZoPhE4vjQWHBjtXMXLTy3GjPTC68bFAb5H6ye1IJdmgHEeahk5puXg6uQwgX6mExHW4ch7EK2ErnNev35CYXNljdZl43jXHF+kYypP6FB5uQWYGWn50FST5jxQT4U8UQ4UwfnD51whGJU8Y33uZoJyLdKXDEnHkZTr0cdmsMkIZJBSmGNb87CD/CFEJwT5dmuSo2Ekkj+kwKMg0/q6DKTIQMnzg+pVnjyZJufA0ROTgoTCseG0yjDM7CorhHSa+5mleIiEoAi1w5XJspZ0E2SNypM1QK7aIQSSn25CSN9NaUYeiBzXM0WDMi/jEKpOz0a92OTNdkZ1qQ7JUfUJChOaLlqD5jalNfYdGWaZMF5p3Q8BQp41P3MJRIgE5aI4IcyzIK7KiYYgmnIVJ4iO0zVYR+gqjhKFdnzK7dUXHNIp9OIaoQdb8Axpzj8y5GWosyhPR8PraILN6dVyIUuxlvpZQE+/JxuYz5HlmuZzsM5zcTJvk7h89vw1HTAQgsKRgFzeME4us7hD/iYw0hCY2iS+EGaSoyWXUe0+CvnFdnMUaShPayhmKo2nOU/Nwy3VyvkE/Xr3hFzOQaifU4+aufVcDANaVDkhUYlGmrN1ph7GOzyj4ulxNkpwJRH9lmi2GhcW8NUpysUIXjFmBjMD16tGGECdvBEeGtN8+gkNC1FhUTkOZkZafh68Ms0hAaN2L4BucRZgWt7Polw04dMND5qNAiQAt7LRpd9D/o+RAAxoFQCzwovSNMa5ZnMS59QPypEx+UPx5jsevUSKLPrzIJlMIpn04Xkea9XKKIL54q2dPSa0jATZSzHVoE9t0eMOM9L0fIBtF5JlZXCsskZEhNMSTZeFCWwGyyNfzugyjpXRw0PtlKIq1zMYxeol4Vz5XT4Df+5El4fz8mQixLAOlRcdxnnlFRCgfqXsQg3Fk595FU0HPpu13UZb4ZM3P4ZeIlKcmegazIgIeaUtdTC2OAoFzUeuGnj4jkew2+a7IJRbJRctip1yYzdTdvBY0PPhaRVk3/gJdSrjeMAjIco+7zKg9DK6jIbSXYLChMJ0XBT95isA0uVYJX36WMoKEFF6neaYzwdHMEyPukonwih681l1LSL/K6aRrmsPI0LXMcRCjHLl6HVRzIoIOBxhZg55ooDikpwHysoNLf4oD3eNyVUGZRN9uQ4MiIjGu/IoTuLlpdmk6YBK56F8eR+g/FFAP9JkA8orqDG6DEBZZQK6Fh3NJPNEweuU0x8cFO8zXfDoql+cnHxSysNFkz4Yk4cPFP1YsF/Ie54onLw5ziyZRBQ+w36yDHLVDsF8Mu6xbh4SIQpzbkDLS7qOBoksjQR8Ol6ZrACnVoDLHG2AjfwZvVGQjuoXrZagtLZgZEcQS1Ek2LauBskjxXErV7yRRQqj6aE4n/JR+oJAZVS2KTW4EaO0lmhJXq77dMmy3/iAGImGBL77DHxSBMyeOxcB74qkQOt79KKtsNyOQks8dxRt0iF5Klb0wGcjE7wF1A2gmxwU2RqMCV0JZKdDjs5q06IyK8uOQDpOic7xKudQzhGM4mOqrBuYoOVW1qb8oGRfK7EIhYVixCJ7RC2KRSYYEphfv4T51H7d/hbDC+kJ61NxCVjuIiOUzMISCsvLbYmG4oUwTX4hDLfTDdvekttOEm7dVV8ILdGJxilPE0QqCQCfE29SnwOjP5ISe0MJGD0CHR1GLUFzeCKT4JzOeSEit+hoyFHmnPJVBIiUd36FWwIW9ScOyJPT6uRfVHqLqXxLsgnjQpYK62qb8gzLtOaGtNhXRW8TfyG2tfKtxReKNXWi/SF/iKa5XCik6wLtOIX5m7ttFM2PzaCYw61hhbnYqJUlmEEPQJzyW8jFKORYRxSFpLYdlmnST23njlMXRgLsSqksPudy6ZpREq5voxEd6Nco7kByMakmElgSApERUsqBaKZZpuMExnW+44hFKHU8XQmY0IIoSAxCpM4u5RVvQnuZUt4o2luuS+TTktklGOkaTHCRWlBGihIMx8CCEuj0/LwWW1IiO52PVirUHCG0krzw0aVqd6noLnxLoyUDp9lGY5r5NW4ZVRzH9MdH95RATnunOph1je4OJhmTWxIlkM3mnNVZSnQUS2Jb4zYtxRIIluK2N2t6k+AiyKVUyodZQbtpwmgciCXQgRLg4OXRgQRjUqWUQF43AXUVIeDT8ka9JdzG0ZH1xwp0R0pzCaFlZjAzgIcDCoMxl+OADDg4G8Gk+OgICURk7cg1D7vI+NTREujZE3AvTnEmnD27GtBqSWUxPxHT09EVdmd6FEeu8LKV5xk8j0JD/OtUCYTzQuh2auVxZbEEurYE8vM2qKOAaNRT8vGcwDqY/XgG7GCBLqnk3ADMFQYkXT0OUdyS2t64XUuHBGprAd/jNMijT68eS0ejF6GVvp+AUVZSnj2zFijpDqSF6DgqlkAsgVgCJZZALsjQyAeHbJBDNgicIi3rc0B/R1fPqbCjSbZFLzK5asd3W1njtK4hgcgamSvBAFz8jdSYjGLxc7REcNBNGlFXBzfBZufCfaJNHzboJqx3PpucC/Q2vJ5KVVfPxfTp0xt5YBqc+b4xKuoLr7BoXOyPJRBLIJbAIknAzTukQFdzdxSmt52ZVMqjkxXoQlPY2IIvdrqZBAJanwPe2QVUppdMhbqbdUjM7sJLgLPfimvnsEL/HPyegFMOm1DzmoSW6oDmbEFCqAKWp9z6b0qLvT7jpbgYsQSWIAnETekmEuCcpK+iNHKrW3XQKAJ4elTWmFASX+etECb+842TD21YK/Lp8XmxS0B9RpgZzIwD0jD/n/q4LcyfQss5Qpotp84/tr3lw3ytufOvKc7RTSSQBA4a7WHa/Qc5hnPIwPTtKg5zM3Nj3iXEJ7iPwnPO1lVBB5PvORBDftMXoAxh4E8pIRiMj1gCsQRiCXSWBDgHSZEOPA/lldQuGQ48oyIdFDkwY5gGwGJEB3i8DqDRBglOqIVvK7aciemajVtOjGO7oARkeXbgQJRbGhZjqrEEOkECsp7qn08QOTcT6sQ5Kfyvjo1zbycw00WrkAwEN09TNmTTyYoyQzkDkiEdLlnuHJ9iCXQ7CQSxIPGVAAAQAElEQVQepHyFfLvhHgZit+tLILodWPqmlGc+JTcXn5+zStUIrRilot1Ilw1qDBR8amjBGzuxBDpPArqgoljQmqNl5V/Q8nH+LiMBrZRRQNNhhuwJdJb2o4lsJIxW5BLecCC+HiQlxKduIwHPXfNil0q0/BFdRbOBUmJ0XQloxtE0pRsgwfnJrvygBZrekh7xGCmpeGPisQRiCXQHCTTOtZqShe7AdefzGET/jayUjaIhRDJrVEc6n7O4xlgCsQRiCXSuBDpHgdZtQfN28bFJ86gOCsdkYgnEEoglMH8JUAHMUu9rSPPE3PnJMFHw0drqLKt0l1bLKuXj9jc7weiUQBBkIV8uaKCcskSGkPwUSy9T5QuhmBixBGIJxBIohQQ0z2ia0gc3BOdnRaGf3pIeqr+EFZB8m4oy0znhlpCBmHQsgVgCsQRalgD1Pp8pSU/zEJxyCH0Hyc1JTFwsijMZ6kqHszBLFmLKgxamhnRACaUY4RN055nj8/JkYnzEEugGEojHazfopPaxyLkol1NW9in94EylUKnAWkpFOqbb7SXQ0pODbt+ouAGxBAoS4ET7ytPATVd+jRyNqelMGjAphdFpUX4BS+GPAoIszIL8BRFkDXddPwfPPciwDNF04iOWQLeWAJWtoMTKVreWT3uZ7wL5AuotZjKI0FNifjpvZXBt6bzqSiy3mPxCSSDu/4USW1yoNBKg0vzgnV/iD7+ZCo9+L6HtG6pK4zSEwjFCCWRpoU+VAxf+8RbcMOV55I30lBUVEMQKSCimJdJd8r66ZOwnD+5jDfRBT1vc/XMDzGoUE6M7SIBzUpRNKdDRcCn9XimJt0o7VqZbFU2XS2BfaeIUchyZZsbJhfAI+uflV0OqNcybu/0xIc32l2iaMyzf0W7TWhZzKK5+QSSQA1YoXxnLV60OUIEOcoZA32iTC70ux8gFobfE5dW1opsKIWwc42io7+n1xap918gr0E55jqSHXs4dzO3U6tANk2K3YyWQy3Ewk2RNTaPil06zoxhXXV3Nc+OhvPX19S5CfiHMK79L4El+gV5o/pcbRZSG0hsaGpDNZCFX+ZQ+Z84ceV35Ov3bT4aUl06To7a21oXDPC7AU1g/vRA9uVGE5RQX5lX94kNQfFhOrtqp+jUelRZkc+TNkEpJc6YMqU2bPxeW/AGcBgADf4xHa2ByfCw+CWiOIThdu+1lPnUSbTNTb1ougJk5eJ7n3I5m1OtogjG9WAKxBGIJdAsJBIBPHTmZoUlV66NT9cS56RTDSUBLRAgXAS1WyWwCyWzK+QuxeT9l6sKh6wLxqZQSkFIoBeGMM87AMUcfgx9++MFVJ0VRSmSPHj1wwAEH4IILLoAUzt133x37778/tttuOxx44IFYc8018cILL0DK7i677ILDDjsMu+22G0466SQ899xzjpaZOQVEZa6++moXd/PNN2PXXXfFPvvsg5133tmV2frHW2P27Nl47LHHsPnmm+Ott95ySrWZoby8HLfddhuOOOIIl1c8/etf/3LpmYy2CQFz587FnnvuiVGjRlGxDaB2qT7ROvzww3HQQQc5/vbee2+sv/76uPvuu/Htt9+6tjz99NOOr1QqBT/h46GHH3L5xeO4cePw3nvvIZlMunaAP8X99swzIflxGigo/mn8/cI/o3ruN/B03xiPY0qqCx/N+4c380Gu8/jVzNh5tcU1dXkJaNINoYWyyzMcMxhLIJZAJ0rAmtbVfAFrmhqHOkECUgpVzZZbbonb77gdd9xxh4JIFLYkjR8/Hvfeey9WWnElVFRU4KmnnnKK6Y9+9CNUVVVhjTXWQK9evZzy+uSTT0Lx22+/Pd58803ssMMOTknVmiCizzzzDF5++WWnbH700UdOUe7Tpw9WX311V27VVVdFz549MWPGDLz99tv47LPPYJ4567FoDho0CN999x2WW245fPzxxxgyZAjefe9dV0YW5BdffBGPPPIIxLOUa9Upxbt3795YbbXVnBIsvlZZZRVHQ/yDP/H17rvvOqVbNwmq5+CDD8bnn3+Ofv36uTZsttlmOO+885gbUF1vvPEGLrn0cvzznnvhURNKlKWYlsODDz6IWlrLFceI+OhmEqDhmTdJcGOh1Kxz2JS6iij9Tq4uWnXsn68E4gyxBJZGCchgEeuBC9bzuaK1nuUCgXM7rT/0xUcnSkDWUymDqvLQQw/FxhtvDFlsFZb1Vu7DDz+MTTbZBAMHDYS2c2SzWVxzzTWQBfmGG27Ao48+irXWWsspuSpz9NFH49xzzoUU2K222gp/+ctfRMYpJH379nVKuO/5kFIrZfnvf/+7o3fdddc5RbWsrAyhRVkKu7ZUnHbaaXjnnXecIi/r9PXXXe+s3rJw9+/f31mhVfevfvUrnHzyydhmm21w/fXXQ1s6ZLF+4IEHcOmllzpLs9oyZcoUx99Pf/pTp8yLQd0EmJmztN9444246KKLnAVdVupPP/0Uv/zlL3EmLc7PPvssFWYPPSqrUE6L9K9/8xt8+slXqKooIxnftcsjnUDjmjHx0b0k0Jn95pVeNKwiOhBDf7ON36XnI64hlkAsgY6WgCxTi4KO5mdR6GnPo4Xz06IQWoLL6mZjnuY1l5nCIebJXLKIpZKwrM9SPMPGa1vC448/jldeecVFffHlF3jooYfctgkp2toioYQwXdZg7ZtOJVNO6VUeKb1+wqcVz/C///0PyyyzjPOb5S3Jqs/zPadwi95XX33ltoYEMv2ReDgf0IsVVljBbd2YNGkSNthgA2y99dbO+pvjc/ZUKuWs1rIYqz4pua+++ir2228/nHPOOc6SLn5ET3nlfvnll866LaVcYbVfNwSqS3l0Q3Hrrbc6y/mIESOgNCnhSh89erRTjmWN19aWb77+GgMHDoKs4TvttCNmzKxGJl3vyvSl1Vpf5lG5GF1bAtrzrKflmrvlD4HoTX6JmkDttkSUY7KxBGIJlFwCWkQWBSVnsBtUEE6Cmni7Absxi7EEWpXAXnvtBVmJp06d6iyz1157LaQgH3vssa6MLMPa0nDKKadgjTXWcNsiZM2tb8grjsoki/Lvf/97hLT++Mc/KtpZoLUtRDAzyNXco20RRx55JHbbfTdIeZXCKiu0tl5IwVVhKba77LKL2yoipVZlzcwp5rIcK4/q1VaQn/zkJ1BeWctvv/32/B5lWs3NDKIrSFkOaXuep+LOquz7Pr744gusu+66Lk68hPm0BWT55ZeHtp74vEEQnZ122slZsqur5+KEE06A7yec/H6YMYPtdSTiUyyBViWQH3mtJi9AQqtZabOwSGLo1+1CJDr2xhKIJRBLoLMlECrN4bSkB2MynnLWcu/ddzY/Xa0+yaHIU2SLRig3l9Z8FZEwQ7gM8amzJCAlcY899nBbKaRkaiuDlFvtGQ4VTb0sqK0M2sus7QzaLyyrsyA+pWRr24es1No2oW0hipeyHCIMaw+y9kzLsrz22ms7C68UU33xQsqrIGuxlGTti44qz6IhxdrM8P3337utJOJTVnFt95ASLaVa7VC9yi+LtGjIFWRJVl1Kk6s2qq5vvvnGWbqlqEuBVj162VB5xLPyZ3M5KtOfoFefnvjzX/+G226/DVdecxXM96C0bJPBrxIxuqIE9OQQnG80d8sfAp0wgzef+kosn3hElljAMflYArEEFlAC+tyRHgF6fKysojlqhwEf/wVIcAru5ClSDHQx5Bw/lAMXKScrRliQhJdLuBR30jd0PSW4ELSgIf51ugTMDLIuV1dXQ/uO9UUMKchSNsWMlGNh0003dZZWubLKmuW3Z5gZTj/9dGgbiJTZX/ziFyrmrNkeLb1SXgXRkyvrtvYW/+53v4Ms2frCh+KVVwWlsJoZVI+syVJozTiQlEiIjrZw6IU+vRwo3vbZZx8MHTrUfRVESrf2aPue77aJJBNJ9yUN0RfMM5gZKaHobrLxJu5FQFmiw5sC1aM2aUuKvughvqpr5iKrCx/AyOOPxshRx+NXvzoF1TWzUNmzPLZAUy5d/sh3fSObmocaQyX3cVYseR3zVuAazcl23pQ4pttLQP3aFrp9A7tEA2SREUJm5I8RcNFrP8Bhmm0ATJZVmp0930MgJRDGP98BS/GP4gHFQiUD0BeFs5SFZRhLj2VSNPCUM4ZHk0WL6YxyhzELPYoJwWB8lFACUhT1NQ69mCfrsV4O1GfcVKWstUqXgvvSSy9B+4nlCorX1g/NIdrioPyTJ092X9wYPnw4ZAVWnFwpvNrvrLxmhg8++EBJbk+0mcH3fQfwp0/qKawXEWWJXmONNXDPPffg9ddfx5gxY7Dttts65Vx7ntdcc03oaxraBy3r+PPPP++2n0ycOBHacqHy+m+hs2bNIuX8YWaON8/z3LWvdkycNNFtTdELkNoTrj3PehFR0P5qfQ5PvKtMVWU5JBeN879d8AfsvMc2+OjTt2FelsjXAd5Mt44wz2J1l97KjXMMwckazvJMSUQt0QyW9PBKSh2cNsPJVY1UuEmFTJ8nrkmGOBBLIJZALIGSSSBVBphx+czALeScjhH/5pUAJeQig6xzUFnWE1U9/HxAZzfPaz5XIHTlb0SJF5vGipZin5RCbVnQfl69HLf33ns7BVNbGKSESgGWoqo9ztr/q28+a/uFvoyhL2qorFxZsKXcnn322e7bzfq0m8Sqfc2CaGmrhLZD6GscUlxlHTYzdx3Jkqx45ZXCLquvFGFZqI8//njok3L6bvOwYcPc5/NkfZYlW3VEoRcB9Tk8fY5O9LQ9RK7y+FTUzcx9d1q8SClWfJ/efXDnnXfioIMOwn/+8x/oc3ZS+seOHQtZwfVSpHgV7+C4tYTh++rv4ScS+N1Z52DDDTdFOpNARmPd6S2iGqPLSkDzd8gc+xPqM0G6pcJhWgnczpnTXGOacV/ihjWrLQ52GQlocY2iyzC28IzEJbunBDgvNVBxzuXSAHXBsmTKWVylRGtOFrxQc+yeLVwkrtV2JwNSMUKHUWmRkGob5qK6lsJTguZyyUnQoqWMBWiBCaFyRRTSi47KCsWI2LMwEpA1VUr04MGD8d///hf6LJyZuZfvRE/bMmThlQX4tddeg6zNUpb1j1NSqZQLS7Hu0aOHskP/nEXK7YYbbujCKhu+VCjlV99e3mKLLaA6pVQrk5RcWXv1nedddtnF7UWWIq3P7OnlRtHQ9gpZvmUhXnbZZd33nfXPU1Q+ij/96U/QPm7lUfy0adNw1VVXOZoKC+JNW0AOOeQQZwUXH4rTP46RRVvbNvRJvksuucRt/5Cyrzz33nsPjhlyNO3LxpsMWqLTCWy67g74+5+nomfFmnAPo+IxKRF3WUiTUBc56zPnIlmfCw8UAc9KzrdX8hqiFWiijYZjfyyBWAKxBDpZArnw7SDOfj/Uvoda+wgoJxOccMMpl0mQAumsGUxaKg8KQ3LwuULJZZBWOkqCq9Z3Na/hi+kvAkpguix5DvIzyzyH4ptjnkyMu/R56QAAEABJREFUUB468bFwEvB8dQjcFgq93NecipRlWZgVr/3I2hYR7hNW3MorryzHQWlSqmXJluKtSO2XlgIqv5TiFVdcEWamIEILsAvwpC0hUqZl1WbQKbfae6wyguKyNPOqXNSCrHjBLE93vfXWo4KbcuVFTxZobSHxPM9Zu0VDXxZRWLRUVp/Xq6yslBeqy8zcN7CVLou4Evr06YO+ffvRa0gly1E9pwENVKL79FqVQ7kfdPPobviYIz66hwQ0LtjVvMHqnInE6x5iiblcciSgIRfFktOyUrVEj19FW99JlTVIeOuttyDIL8gvyL8gkOVmUSBL1qJgUepub9kPP/zQWda0eAv6Bq0WUiSBoSetgwk3jgZS4FpJSzQS8J1WSC3RiM6Zh9W9XQ+u7XkZ+AXu6hoaAOol468/ESeftQ0orHyK8gr5UOvnaJ7QLzeESsovN8YCS8DMXBkprVIoFTDLx8mvbQtSgKWIKo/grgUlEmEZep3SKld55IaI5gnjmruiGcIsX395eXnREh7mlyVYvJjl84TxoRulIWVeSr+ZwXizqzTxJr9oK6ybAbmhBV1lFBbUdtEVDYXlD5BFOleHbEMWlWWVVKQNuQZDlop0rEBLQl0bHtkzQsYOQX43V+WC/A0Q00p5qP5S0o9pz1cCcYZYAq1LQIudJnspxbKqaEFoCVqEBC0gsrxosegMaKFaFJSaR9/3oQVfXwvQZ7kkSwdOsNKTew0A1t+pDzJ1tTD+uZ4IeNYXOQJtUaACyeBSebgbCMoAhGRCIfgJg8S07o8TWGljoKhA0+sO5QvhIniaX5hZiofyFgML6FFZYQGLLS3ZNe5L2VYz61DybfFrlq+rrTztY8ZrJVsOhSpaSY+ju6IENG2r3wLt6dAEr/0cJWS0tdFTwipj0rEEYgm0JAEtBs0h67PeOpcSOGDAADTHOuusAyGM79+/P/TmvV4UirGm++9nkse6667r/qOavgqQlz2nPipbmTkZZGvSSJRXoD6d4ZSbA5ziCNAknUezfb1MWToOygdagOSyxZQYkmVJZKlPU1BAHQCKqyinQj4XZn7nhnHRcDRO8e2BykTRvEw0Tf7m6UtLWG0XFrC94bwTLRaNC/2hG80X+tuTFuZp7oY0OsoN6bdFLwg3zLrBnOOZT1dUwKPr1cFkyszr6YqN0U0kYIU+Myt4Ssi35sQSko9JxxKIJbAoEpC1WS/ByMqbTCbdPsNwcZArC7UgfwjVZ2a0oMSQTHQTIjn26dMH+icNitM2DhjgcZH0q5ISGbI5aYb0BoQ7Fn16lH4ZwpHUSfSjUIYsEwTF0xseSlpQwCn8C1oqmr9Qu9ENQa9ySCJ+GQOUG/SeWYJ+fQ9an7VrSAENjMgwlzKrLYLapd0x1EsgyC9RKw+Lqx+gsOLD/PVMqCtAfqWJjtIF+RWnNEHlFSdXdShOEA25ilOaq1MnBQT5WU93PSSLKLprOxY337ppFtxdn8YEx4bG/uLmK65//hLQjdD8c7WYY1EjOdMtKolFLR+P0kWVYNcqryHVFroWt4ubGylzIUJewrDcMK41V5Zpwcxg1ojW8nd0vFljnWYL7u9oflqi5/vS9gDtk9RWDv13tDCfmSFXI+2KMW4BpeusrhzDchkEbVPOWYCTlmAhoDKbB5Dl4qxdIXQYoNZjJCjljlU1zKafbOQI+uDy0KOyWdLIFCB/FDlSbY4s4xqRZkiopyvI34gc6bYOMuCROSJH2ZBj5gbSVFxrqF/ofsO1p5b5GMZcumqP7kfUDhZ1opMg5jBN6dV0pxNSbBVPr4jmlK440naWbX3q9zsmziQUL5pSkEVXeVSfoLDyqF7VJzo1LPMN8RWhOsI4lVfYaesiWkeZSFLBPDemuva6MiQzMp8fJ+qYKNjsxkMNFuDmB/BnpoFHD4+wjfS6IwzLdRE8Rf0MukNxzeESeGoerzCj2zyUZ2EQEm1etrX4MF82CKCn/DnzXN/ngixdDZCAbh7a5aXrUMOqNYT1xO5ikgDHvfY+u34q+BXWCJdbaq40LkpdR0w/lkAsgVgCLUhg8UUFXEBBvcL4nNZLpZDLZFGmj0KLJc2+TvPj9FhUopWwaPADQ0Z6W450tJdYip0UQCqVM94F/nbmc7ji/H8hkAJIHtLZgCxygQ95aYdrTfKAP7aBZxTjFVBciObhMD7v5lhOUHlj1nryzwchqCxngBG15P2eO9/HQT+5Bj/b9kZsM+Bc/PW0pzHra6ZTsc7yxmDqJa9g9x0uxL7b34D9drwV2/74Qhy4zwWom8M8lIVuGs476wUc8tMrwQbj2/8Bg/a4GQdsdy922ngq9tzqcmy+0ig886A0b5ahnvPBs8C5I5/EPuteiD03Pw/nnnorGr4Cfj72n9ht8wuw3w5XYdSRj2O/Da7DThtdiD22+SNmkK4WWrBNpKKq5OS/tuJ83fBk5DmEuiz0u9ZRuEyOj3ZKQNe6A5+kBIl2FoqzLVYJBM1r10XAOM61PJf8KNRW8nriCmIJxBJYAAnoczzCAhSJsy6QBKhc8IAsl7SMevCpVnk06lE7M5o2vQIxKSQF74I7ORgVGZHwVTgHSPkElU5QwXzrYeC2c4DRW76DEXu+hn9Pm4UfPuoJVa9//ZdtSJMnkEYeouEBLk6uwkYzWgiffs/Bh5cTknSJIAUvihzjQiDBNK8ZWAcXJo/8NgHjkKuHPpvdwDZ4CeQV6Vwlvv8qjVHHD8Svf3EmXnzmAxy415XIzgB8D6ieUYVEblmcOGIQThh5AI4euiOOGrInyquYVqBTX70M6mb1BjsA5dRfPvtkLn6y41741bnDMPzk/TF8zECs9qNlgVnA+DM/wohDJuKNZ77BIYfti4OP3A0PPfIE8SWOPPpnGH7i0Tj44CH45NNarLvZFjj5rDE4/PjdkWJxioVVJIhy6tK6CyCDlKmxbd0JIPdZsl5nQA3RQKTZjqzlOOIa6AtBr5RCOm0duqFsDSrXWlpL8crfHC3li8Y1z7+o4ZD2/OgEtDwrj0cZmZRmXv66dhBwbHBMKK1VxAldTgLGJwpiyuP1ILfU4CVY6ioi9DlII6HYG0sglkAbEsjmOJu3kR4nLbwEtMBS08DVl3yJQT+bIn0EhiShVZOao0gv4uzocb7zMgl4dSREJR1UFj95BvjrL9/DuMHP4w8/fxq3TaPpedYaWK3vJujjb4QVyrYAqHiClt5yS8GnNTpJS67g01U4hMe00C/XGDbW0wQuzmBzI1BcAWB+0F+EwiEUH/pZt/JUoIztAU4ecj+m/ImMcoj6ud4oTyyH/Y8EDhmcwJTxx6BudhXuvp36MNucrvPxoxXWx/6HAwcclsLYM7bEEYM3Ao3+6NGTgq4HepStgh4VK7MAm0+yCeuDgYcmsd9hwMCjfoTRo3bGymuCSjNw843/xUGHHIpbHjgMI343AKN/sy0e/+/F+NmhK+PHu3o4athyVKSBukyAHXZdH4cemcTIk7ZFjyrAo17p5FiXgC/U+DBpoN0Q6nOf7UlQcza6Hu/7zN1egb/CGKaPg1rnGPNIQDIKwURerzy7ucC5OnE60FzRHEqK0TUloGVTerT6rNQccmYvdRWkz0HIc9MjHKxNY+NQLIH2SmCJzpcLcm4vXmc2UhOOoJcS9c8JVHdtbS0E7RsW9B1l/YOFEApHoXi9tKfygmgIoiHa8i9OiAdBe6HBtTM7pze+/4zTIBVBGvUca/I6PYTRC6t8qKisyLWfAi/dAUw7Exi85esYufeLePXeHpj+1nJYrnwT9O67EtKpLKob6pDwE5j5ZTne+Q/w4i3AIxOB/1wNPHEV8Dhd4Qm6UTzJcBTK73ANywpMbzFciH+KbhOwzFMhwrQwfC3wNPHibcCnz66KJ++Yhcx3gJ/ugUxNo8Xu+ecYl8hgldXopoBEIsB338zF608AMz8BvnmTYjbGs0htTQAteOkGDw21lLwHeEQikcLLzwPVvL9441GgfgbLUIl/7NE0Ztensf9xywArMa6MkGLcC8jRIk4dEtTxMZdKeWBzUV09nQSZhzcDr5HOI2zLI5Tno1cCwuP0O/kx/sluBjcepgIPTQDuGw/8c2oAKdGzZ8zFZ59/g48/+Qz6Bnpb0H8LXCrxycfu2/D6T4yffPIpvvr8K3z79Tf49vNZaKjPoCEzE2kOR80Jmi84gpocihOaRMaBxSIBt9eZOqaeIDl/Ln/Jh+dSMsWpqsTk21SUVb2VkoGYdiyBbiuBzp6gzQxSkj1qMH7Cdwq8vist6AU8Qd+a1hctQigcheL1tRCVF9QGKdSiYdbFrnVNutkq+NlKaKHMDxTNSTKE5qRf56MW4fzCC3Nw3h+vxrXX3Irvv52NqrJ+6NtjZazQbw1WUoVkshcSyUokylKQ7L6fPgOnnXIrfn7qePzlvKk456zrcO7ZN9DN42z6FQ5x1tnX45wIzj7neuYnzhKuxblnEWdfTbcA+UMoTfSLuIH5Ijj7Jpx79i0E486egnPPmoTfnjkJZ/76XlSWrYCP3vsek8Z/h55UYCWiU4fW4FfDv8JlFzyAPffeHj/egbFUcBMpQybdgN//4RX8bL9pOPaYP0FbQHSTUlFlToGuqkigLMnxIfGzX1KpBK655i0MHXoPRp34Wzz879egDvnfJ9+iskcvrLUhaTM7qDTDZ4FEFoGfpRKdgeKyPpD1G9CjLzN4zMvwjTfdSVmNx+9/dzNxI3E9zqGczjr7WnQ+Fr3Os8+5Guf9n/pmIv70f1Nw8SUXYs73wNtvv40ZM2ay0R5ohCc4lnMxZBiYH+rTc1A99xuUVzVouFGGgLbSaR6LwiXEp8UrAV72LTGg11vcFo5cAKdQt5Spg+I0tXQQqZhMLIFYAosiATODWR6LQmdRyqaSKYSWY1mNZaEJIUvWBx98gBAKC2G6XIXDdLn6bJxnHqRELwpfpSqrCVbIK9C5SDUZRmkRjcZFktvjpe6246E9ceuzx+KuFw7DiLP7Y4PdaB2sfQKvf/IyPv/2G2QaqOjVG7J1HuqztVh3i964763D8NgXJ+L+V4bhoY+OwsMfDcKjETz84SCEePSjwfQ3xb8/HIw8jsa/PyI+PJbhFsC0B0m/EYPwIGk34kg8+NHh+bgPhtMdgYc/HoEH3t4XyeW+xd6HboVRJy0HbR31/JlYf91KfPTOHJSnlsc5f18dqAC0FSXbUI9UxRyMn7wZ7n3oOEycdgqYBbLQV/8wCwnma8h+j+rar0H9BT17AsmyNIaduAFuuG9/XHnn/2G/IzYBUsDyyy9Lx8OcL0m7YCHkRQPIUGOM0F4Gn0EDMhx3s6i4z2VWkOZ5Ew/CE++fiMc+OgKPfjiQMh2MRz8RjqbbzfDp0Xjss2Px8KeD8OxXJ+C/nw7Hwy+fik+/fQsD1l8Nm26yOdZcY22s23+Aw4DCN+T1zfgowvilzc3LZR2sM6CAddbBgHXWwo8GrIoB662AjTZbEe7jPB7cT0q0md/C/KYAABAASURBVHGo5eEi41OXk4CZOZ7yziLM3Y7K/E+F4TH/jIucw90tdF518+M3To8l0FUl0NzSoXBn8ap9157vYcyYMVhuueWw9tprO+gftGiR1T8kWW+99SDIr8VY8SEUt8EGG2DDDTd0+NGPfoQPP/oQiUSis5qwwPXkNOeGcKU7aJ4SmQQnviq4F9gOO3EF/N81G2HynTvhrEs2x6a79cL3uZfxQ+ZtfJ/5GN+nP8TcxGdALzJBZdFbli7LIorKFuKi6fL3YJ4erNeBSmWPNqD8UbiyKt8MVVyMqjJAJWmRhxmzP6KWWs8w8OXXnyCDaowYDdx67zoMf4SzTnkW8EmD2ZH1qHgksMw6QN8fAatvWAFmhyzQPXr3pqYLfPLJhxiw7ipIsv5MGqhPB+i/PpBcCViburM+nQcDfrxNGWbO+h/uuuWTPI0G1iGkDZZOwdM+DkYpb+BlUNdQCy8JiA1oCJZTLhWsoLIWcKhHUJluBsV1bWQrapFN1SLnsw84VupTNXj/i3dQyxuRZfsth9raOWhI10FzRxTNLbDRtKXJn+XtscZEjsMBHNqSS6BvMgYN6LViAutvvCoylnP3ZZoTcwEzaVzF6HoSsAhL7DNd+w6R6FJ5vVIRbpOuBq1mzzYzxYndUwKaaNpC92xVZ3BdXMA4q8uvOrW/WJO7/J2BVCqFf//737j88svd4tu3b1+suOKK0BaMFVZYAb2p8GjLRjabxbLLLktrYc8m6NWrF62EyzuLc7gfeocdduAj5RmOfbVLlm0FOrNdqm8ecOLVSA2kWXEmlF95GM35N+HgLeI8pceJanOKSqf25iIJLLchsPMg4OxpFbjppc1x4vnrY+uDDXN7vIE3PnsBWtCdwpggN2KGTvFQ2AAy5xAYJ9MWAbg8jn82rjW3GT1XptU4j7owaTE9mU0gkSGDFFpVZRVm186A9QSwDHDsiJ/gyUc+gfYaw6fymi5HrqE3nroNeOtx4NHrgU9eYjzvFd5/DLjqfOCN1z7Ajjv9mASA+hqgtr4HnnoCeP9J4PkHgMf/BfzwObDTocCe+22MSy94COecOhPP3A/cPImK9br/wJWXvY9EMgXX1CRgXj2StEKXUUR+Bvmfb1B3Qzd0Pvk3n01uC8Z0IaAryB9FW2WVFuZVWSEMh67ytIUwX1PXp2AFkKva9Fyk/CTqaurRr88KAJK8XquQTJTR3/QwM5jFCCWesAQ8T/BgNBzoeqVuDb9nDnNzPwAe3DyoazgqSTNzcozGxf6lTwIcHktfo+MWxxLoyhKQtUMTtiA+Q1f+zsCll17KBbgCF110Eb755ht8+eWXmDlzJr766ivst99+0At4nufhj3/8o4tXWogZM2bg888/x4gRIxyra621FqZPn46ddtrJhc0MZWX5hV00XORiPuW0ShoXSrpeBKC/o1gLvACBTyQJanRBBd0qUu8D7H4EcOY/1sAN947E8eP2A/UfeEmmtfMIjLwvJMBybYMasqw60urJT0Do8HIeZFzXTcHc9JdIVH0FZ/yl/jb05yti0y1Wwx/Om4Y53wI9+zbgu9lv4Ixzb8CYk2/C2b+/HL/+9aV4/33guCFX4Lprb8TYUw/DbvsA+k+FM2azPanPMf6aWzFs5NX4xS8uw29OPxtvf0BessCfLtsNJ/3yeMyqnoFR48bjoksnYfBRgzHw8AEsSBoeMKsOmF79KnLB93CGRZZjSuFgBte3VKCdNh2GQ1fxoX9BXZUVFrRcmF9lhTDctuvGK/vCC+ijC7pwbVO5QnNjp50SoMwoPz2RyvLpRc59T5JDilp1Z8/B7WS4m2braLYLs5KJLucIOQ70u7nLBUpy4ogpCd2YaCyBViTAQe0W49BtJVscvdgk8Nprr0GWbynByWTSWWDkKk4KsizPyy+/PLRNQ1bkKLR/WvnSNKGaGR5//HFsvvnm7sWmww47rNgmlekKi5KUz5ApN/+GAbqdMTmmaRmtT9PiysthtfWArXYshxRo86hL1jOSfHSlo4mMtN+4Fjh82KZ49p2/w6Py7C5tWqIvvGk7PPricei5MnD8mQPw1Luj8fhbg/DoO0fiiY9H46bHx2K9HYD/vDMKD74xEEf+IoW+a7GlFcAmuwBPfHAMnv3sMDz53rF4/MMxeOGzc7H9PhRKP+bhTcfgscAF166FZ989EU+9PwKn/HlFVP6IaT5B/XOD7YF3vrgYJ5yyGXzeqFiK8cVDmQS2RmuvUEwLPazLKaIkVnRDf/O0MCy3VOVFe/4wKoAhB7G7EBLQ22cSc6GorkN5w7nKzGBmiorRlSSwmLokMlQ6QxqdXF1nNCmuI5ZAN5PA/NhNpVJOaQ7zabvG1KlTUVVVhfvuuw+/+c1vnFV62223hazIUTSkG5yFWQq36Kyyyir473//6+jddttt+NOf/uTKiKbZYpr1wobRzVF5cosjdVXahBnDg3EQ6C31kaCluawSKKsK0JDJIJvVhl7A84FUqgvNlxaRBGXjgrLQUd9vyM6FV0W+fUKC85lXumZvuj0JthF9KeDeNUAf3i2wvaAVHgmaicuqgbIcslTEmQOQosv8aatGJjkXUF6JIUk65QTr5hluX3gPIEllWvptXS0JOKZcKrKZevgqy7jiTZLKhshnazyH8VG3mOrR1xIYrSNaJupXmkNLZRXnEmnipBstF/oZnT+Ut2UEbJzGb4h8/vi8sBIw44BhYcnT3eS7QckIHoprDkbHx+KSgLpKaKV+XhrQ04RWkjskWldlhxBqnQir0IQQZgj9al0YtxCuLF2tFZs9m88AW0vs4PhwP6fI6oLTo+wwTntAFR8jKgGOB614RUTTYn9Xk4DGdCKRwPrrrw+5WkCefPLJFq0wYV7lkVItS/Tnn3+O8vJyvPzyy65pv/3tb/HPf/7TKdTaCuIiF+NJ7wYF7kQ9Rtq0EHCSIgJiUVkzMycrsxZcXgpGqPqEb0hSzr5Mpay+eb1ax1tC83ydGXaLkxTeFBlOJhAkfMCnEh3UAwkqtEnCqyNLjANN7UlmVoP1Sl+QBXSDkGAcc/hUdj0qyFoWJI9kRTkS5fmtPjBm0OHxJNAJpw99AUQ7F1KVFZB8VFbw/DLIlUFW6VnSyJJNFXWQX3CBVk5KF6LJCquiEApH06N+pQnROPkVF4XiWkKYp6W0QpzGqAPHrdxC9JLslLhtHCiFGnKF61/ruZlBN/2ScRSa85Rdc110PtPnQKWjKK/8gp7KKW9nQ3yoTvGn91s++ugjBRHGi0fxJlcJ8ldX88aWgbB99HbZw81D5E5zh/whGFXyI5yOSl5RR1bwl7/8BSutvBJuvOHGechee+210JcArrjiCvci0zwZOjiioqICc+bMwSmnnIJNNtkEeuFqm222cWE97u7g6mJysQQ6VQJShM0MGtNaBE499VTcc889MDPccsst8+VFE7Am6s022wyyQGuSHjRoELRNpLKycr7lOzqD6hdNs/xCqTXSxVEhcq4SOw052mtpkfUIo0IZ1ktenDfPovMuvlNbSwQZFY9+QOU1By1cAahIU0lWjNCEb7cfkWVAqJzTgmWq9igHQEquaDCVOTwCBOnyDJdDGmVIUdSDYqxSBEeDWRwd1pFzsqV8GdfkYBpCNEnoXgF9Xk3jNse7BV1r3Yv7LsCtBo1QZEWDAshxYpBc6RRTXFg3KhFofnzxxRfddrZf//rXLq+Uad/34fOGcuzYsdAXiq688kroqZzL0IknjYkcx4aqfPjhh7H33ntDOpKUZPGneDNzvOl9l0MPOdR9fUlPDnfeeWf89a9/VRboJsJ5uvLJ9aMH7cLJN9lD/p2A0jHNGkpHvFSUZ82ahe+//x4zfpgxTxUavPr27A8//OAGxTwZOihCF5NISanYZ599cPHFF7uBd+KJJ0JpegHr+eefxxL3ixu0VEvgs88+c+NbQkil8tZD+VuD8mSytD4yw0EHHYRf/epX7iVEvVSoCZvRnX7o+mxaKVU2rpteYQIu9aTbtG7JhhZaqwE8Wm6VaDp1JYTLBOUkM4+TU4E/8pqjYhw4JZdKb+Ajl0sylCISBM3Kbl+G8rM8Y+QDmJfKds65cLGONKuS1ThgfB51VJLrXHqOGm+OoRzSDCuugW6OyJfPkbDg6Fg99J8IIcs345scphDlDYElFG4Lyh5Fe/JG80TLyh9Na+5XuhCNV7hFiPcsUwj2AQSG4mPRJaA5IshRvhFSiosEnVdWXT3x/uKLL9zL0oosKyuDrNXjxo2Dtr7tuuuukF6gtM6GFHzxonqXXXZZXps59OjRw+lGUqIVL8jIsfvuu+P+B+53L4ofeOCB0H+o/P3vf+9cGQqVR3m7MgLe3IT8mekiCkOlcTldlYZwKalqgOrOSp/Mal6P0rRXU9+w7YwO1yPq999/H8cddxwefPBBXHjhhXjppZcg6/Nee+3VnL04HEugW0rgsccegybjW2+9FaeddppTojXJzq8xZgZdk1p8VP7Pf/6z+8a0tjftyoVlfuU7Ol3zhmiacXL1gGxqBjKp6aBuRlARAX9M4rmTDjLhatJiTXRq3a7iBTq5mwzymE1ORzb5nSvrw3fio8YKBIwSqBzDAQUFVwoz0wpHjgqyvAFPDqRJbyFvXh3PMY/U4zwKGQo5lLc5PEYIdHjkyFOOro5CrAEK5TmST+mC/POD8gnzySc2hXmyqawwT0LTCJUVmsYypLLNwehueGgu6IZst8iynqJJD5FS2rNnT5dHRrxrrrkGU6ZMgay4kydPhgxtUYXVZeyEk+osLy93L4VnMhmnOIfVela4Lhhx3fXX4a233sJ5552Hq668CtOmTsMbb7yB//3vf1hzzTWZAwgNIS7QlU66Y47wo6k9+uQgktTh3kYJdjjpxUNQA1VbKuR6vucGztVXX42f/exn0D94OPjgg/Hmm286BUADXfuB9Gkubb/Ybbfd3OMNca6F9vrrr4cePSvfddddh4022sgpyEoXNDhlDZeC8Morr0ADVOX0qEbfz1W8FIWTTjoJJ5xwgrv709aS7bbbDuPHjxcJhEr+119/jdGjR2P77beH0i+77DKXrpP2IymfHp0fccQRLl3KucKajMSHBrruIFV2q622wsSJE1V0MUBDqi0sBpbiKhdaAhpfKqxHeJ7nuc/baVwrriXoGjAz6B+sKN8f/vAHl82sUSvQ05qNN97YfZnj2GOPdVutNIZdxk446RpVNfr6xcob1WHbfZaB/mteI4t5Xi1gruZgVPTIMdAWmNz0aELPo5KXJMqIKqIsn1fVCwyFtOl1h8dzFGYGswhAf1uI5qU/pN+ay+qaHG7NpVH5x3v3wzrbJlyal0vBaHn2EECPTx3UTohTl0UpRIrqr5Avl0/Jn8kKBJ9BH+ZKqrTPjhHkz8NjWsohgRRdhUEXLEXXAFc/yhiuIOT6EG3Bbe2AV+CjnK78eZU6h+hPoSgKaca4KArRocNU0mykl1f+dQ7j5I8ijG/NDfNyw5B8AAAQAElEQVS2nA7KHbyBgTPbS0IhJ13X1ZwSXoPyR9HZXEvRcmDHiY/m9StNvCpNMA6uKJSmNV5rtNZ9haULyPq8+uqrI1zHpcQqXfT1mVBtidtiiy2g7Wyffvqpop0uIF1BeoDW++OPP96t9frX7DJc6Hv6erp+//33Oz1B/+xKlm/ldQR40rsm0nVEe9ttt8W0adOcrqO5O5ybzYw5AbUjLKu2rbzyys74V1Nb47af6Omhbg7UJrXv8MMPd582BX/ayicDiHQQtZ9R7lDbpWNJj9F2kH/9618uXifN8cp70003QU/tpVsp76uvvqpktw5om5/0MMnnJz/5iXsBXWVcBp7EZxRgU3RNh678uhRkCpGfRUp6dPIVV9K2tEj87rvvxpAhQ6DHGOq0b7/9FnfddRfMzN1haaBpAO+4447QS1LHHHMMzj33XOhRgLaJqHM1IPUIRop3tBJdEPpEl/7bmqzOe+65J2688UZ8+OGHTllWR2sQfvLJJ5ACvtJKK0HKvAay9kZJCdYgFk1dLBMmTHD/nMLMoPRRo0YpCbrL/dvf/4YjjzzS8aw93lLq9XjFzPDee++5PVhSwqU8625Y/GqvuCMQn2IJLKQEzDhDsey+++6LuXPnQteHrBRm5vY0M6nJoYlaEfpknSY+LSAav2YG35ciY+7a03UF/vRVD11H9LprRm4poWtS9M0M0j0OOGpl/OXSgchxxvW8lJI6F5rt9SacQ9eejgM+0tYiqPf/fvunn+Ggo9YADFRHE1SgPUJBas5GgPF0PLo6jLkYA6iAA9r585nPd6Xp4WEFKN4cJSvEeHQb4bFMglAME+Y5EowRWktncnyUTAJaj8NrsWSVdALhhoYGZ11WW6TcyvKstVs6gQxw2ktsphHKGyBeP1KQ9QRPuoCs088++yx+/OMfQ3qJ9ip/8fkXuOOOO7DzLjtDiqa2h6wzYB1nCdZea71jdcopp2CttdaClGrpH/UN+a1fUqxlQNP2VSmwZgbpEOH+a83N4lOQaIJcAD/hQ0p0aMjQfHzUUUdBvMtoIv0lLCdjo779369fP+ipu5R3zfPiR/S05WPnnXeGlOZVV10Vn3z6iVOUZYlXuuZ5fRpV+pj+p4B4la6kNUI83HzzzRg8eDDEnxRoKe3a6vef//xHxZ0x1HnCkyzPnGPCYN71wGYjvwc6H1PKs1dK4l2BdvjFgAsuuMA9nlBnnHHGGW7QS8HUIHnqqadw8UUXuy0Y6lTdtWlgafBr748Gtz6/Jcu2LgDdkZmZ28upwaUBqoH0+uuvY9iwYdCdk5TbXDbnNt+Lhh7v6PH1E088geeeew66e3vkkUfw9NNPQxehaEjRlgKuz34dcMABUF7JUFZu8a+LRoqHFG19X1d8K10b/aWkKHzJJZfgMT5ul9Kvmwelx4gl0BES0Fj3qQS3RUtWZ6VrAdHLKrJg6BpTnK4buYImSVllwvxKE32llRqq29VhDeAlirl1aWSyWggLe2JpK0XRjuhy5k9L7TnHlnswL4mkvrahUBlgBf3T6ctayApQOAT48wgdUiPkj0JxbSHMq/ItIUyX67qtwEPRz0Iuje6CHSpFuBuciEuVHE0wP6os2yR/83Cpy8+Pfuene3ySpetd61rn1z6/GjWA8nmK80Q+2OJZc5jmRM13Wpt//vOfQ+u4nlbrO/lKD7dKKF7r88iRI3HnnXdCa7q+SCQlWWt6MpnEsssty2ss6ayx2hIq/SDLu3ut75orpbO8++677km5jG4yxkkJlTz1tE9PvrX+y8otPUJW61CBVR7dAMv4Jp0jVLzVMMUpn57SS2eSEi0lVoY/KbcyLvbu3Rv9+/d3X1G66867IGuzdCS9TC5jo7Z6qE5tX5Uy/Nyzz0GK9AMPPKAqIAVf8Xri/wqf2F96yaXuZXI9LZe+Jf1ol112cXrYBf+4wNFfYYUVcPvtt7vyUuadp41TENGczayNnB2TpKu5Yyh1USp6VKwLduDAgfj73//uHhuHA0n/YW211VZzVrW9froX9t9/f+glKVmk1RwNWA1qDSbdVTbvQF0cyrf22mu7L4JIqdVjFd2hyYr98CMPu0feetFAA1R3mhqIKqPBqbtw/Zc20dUGfw1G1S1LtwZ6qHjoLlWfx9Pdmcom/ISz1qmc7np1Z6oL+LjjjoMuGCnPUr51oSl/jFgCiyoB3expvGmy+8UvfuFu+g499NBWyQZ89qlrTotkOP7lCrr+tJjompCVQUR0rcktNcSX6jDj5MpH8eY3oKwiC7WtvDz8KkhOWWI4CURlkVcuPJ8JXDlq6+cA7Gdn8mFU8chnKwZL6lFdIVRR1K9wjC4lgfD6k6u5oEsxR2aCiAKmeYpR8z00d2ie05YEKYt6WidlUcY0rePmca4hFW3FkCFN67UMbjLWSV/QdlN9lUh5teZLJ5CiqXTRFljcWWD32GMPp1yLt/XWWw+aP2WQk44jy7MUaFmTZQmWEU5bOqSEq7wMeT4NIKInSLeRcizlVbqM+JbeIAu4rMTSLWQx1scaVFY6iP6BlviqratFWaoMW265JaeAAOEL4eFNg57IP/vcs+4TprpBEL96Uq62irbm/lAu4kHGP1mlBclmh5/s4LbdSkeTHhNwnsnJ2qGGzAcSN7PPJ1fHJHMa7BhCnUVFHSGFVXdDL7zwgqtWcYICGogStpRRM8PQoUPd9gl1or5Bq33C6iwNGA0+DQhtpVCnae+N7oK06V+0pOCqnOipw3W3Z5a/GJQuqF4NXg1CXUDnn3++235RVlaGRx991A125dOA1QViZlxvDEpXvGjLvfzyy93dne5cta1Ee5p116nBFfIgJVmDXo969Dhd5TQg9ShFft3ZaU+V3H/84x/uDWDFx4glsLASCMenJjLR0DUhV+NQ41n+EGYWet0YNzM3uWqs68ZRrqBMsiyItq4dhRcX1B4zQzpTv7hYaFe90guVUepsFIrrXBQ4oVWsvLxikav2SKEtMLlrHWp+FF2Luy7BjdZEMaI1U2us/FrH5GrO0JcppJBpHde2Sr2Ib2ZuzlAeWUc1N4R+uaIlt9RQvWTF8ZJrpxamMlqHpRxrC6WeJku51RYLGRzCOU5KtuYbWXmlrOolbBkhZH3WU3HR0QcQNFfqyZ3aKoVXrspJBlJqlU80pWwrXvKSXzck0ou07UHvSu26665uz7IsxKIhHtU3KiNX0D++Ujn1i5k5w8guu+wCtUEGO9GWgq46VUeoA4XzuHgVX1oPlFc6lt5/kWItHqS7KF51hjqNrNjSh1ROND3fc0/zZcXWU3bttVZZ6TGTJk1yW2rNDNKxzPLjxIyuJg4UfromC95GJ5qhMbYjfaWvoSO5JS2Pj38k2D59+rg9QrqrU5ygt0h15yPFU52oTtfA0N5hWby0fUMdKku0Hqtor7DKHHTQQU7R1sZ4WZuHDx/uFn6VZZVO2VWH645LYUG0zcztC9VdngaC4jUotRlfg0YvEWhgafAoTReH0kVXir7v+267hx7ByMItxVl5NdBlodaWEQ0aDTiV0SMd0VE5Xazy60ZBVnbdHepGQHT0EoIe7+gOVHlidAUJdE8ezMwxfvTRR7trQjeaun40BnWtucTueuLj+Zkz0giyZUgmytiKHALTlBiCUV3oaHGNKDF/ueL2g7Aij0aBLLJpH7mM9nDkx0eYGruxBKRkaZ0roxFJa7GU5y+/+hK//OUv3Vqq9Ukv1etdJK2da6yxBmTI0gtpkp7KmxnHWdo9GVKcaImm1l2FS4UgYoEO2qlAR3mRUqi1WkY46QEyZMmqq3j9M6pQWdV8qv/oqvV66NCh0F5m6RgqG0J0pT+ErvwhFJdIJJyib2bO0qs07UOWVVvQi4x6Kn3IIYcou3uXSnkE6UtydSOjPtJNjD67Kx6kf6iAdAu5UmrNDMovqB8UL91E+pf6RrqOnpTLgCgLs2QnmrJIi57K6UMNapsUejOD+Ff9yisdRts9ZEWX4i5dTONEeoz0IuUJ61XdXQVaKUrMC+0l0Tk29GuT3ELWLOVZyqH22uguSwNFkF8XpAanLLlm5jbDy6qsuxspqupM3fkZ7fxSxKVQ6zGFvoqhfUN6/KEBbWZuwIhFdZw6UHuRFDYLGwH87ne/gzpYLyFqf5L2I+tbt+Xl5dBLhcqvwSNl+PTTT3f/Cll3m9r7pO0W2rqhgSb6GlB6zKH901KWzQxSjHXH+tOf/tT94wq1U5v0tRdbyowmG7VHNKT8a4+VXmRQml4gUP0xYgksigQ0+Yfl9YjQzNzkpz1/YXx3cc0ar11DCsv16wV9mo0GVeSCBlCDRgBazgXzukuzSsonZ3DS11mgiLI+jF5fogyYFB+LVQKtLqV6yaqjOGsnHa1jUsL0KF7bvrSWrr/B+pCCpXeLpGBpDdZ6K4OPtkzKsCXLrayxZuYe3ev/KGgtVN6wail9Zhp0YUxpXFXh6bQQ5KVMepw3Nt10U2irm9ZlKbEyjElJlmVWNw5SntVGWVilt9x8882uNukayqt1XbLUzYcSFI5CcconQ0Y4P0vx1PYPyVWf073hhhsg+WvPtfIrn2gKCuslQim0qlNPrvXiod7f0kt9IX/6HLD2Niu/dBXN+XppUPzKSqxP3elLGr7nF9/nEp964VA3SdqOapbvM20t1U2FeJOecu+990I0RE/bXlW/dgdIaVYefXBhF1rDZaEXz2Z5OuJlHhSSjLLPcU7KZ+UkNU/Gjo3o5BVi0RukzpYI9CksKZoSvAQtyK+O16filEdC12Z15dPdj5ROKbXam6TBo/8cdPLJJ+Odd95x37aVMizlVI9fVF5Kr1zVqcEqegpHIaVYd1xS5qUY6y1Vn5ZlvUClR1TKK0u33p4VPSnomjxUh950Vbo+N6PHFlKapYjrUY8GkcqpTDKRhOhK4dZjIVnURX+ZZZaBWf6LHXp5QYNWg1EXjLa3bL311iIfI5bAIklAN4C6jmSR0KM9LQh6C3v4sOGLRFeFdU2FULgz4XOi/dedM3DOb+6GlJB0NoMcJ2I3SykCztcmS5pA20KbhRcgkWxBWIAiHZJVi1GekFoJ1NU2IEG5/fG3D+Gua7+CE5G0aTHnwBPnJJXJ629NZZhzBUiAGZqmMKLZMb/0ZtnbDIr79qBNIu1IbE8dbefJ0eYvBAVXfgEMh1A4w3CGYyKb58r1QQ6Qi8X301pqZu7lMSlyMubsvvvukGVUyp3WJz2dNTO3XUDKtta/e+6+x4VlhdZaqnxav2Sh1H5eKX+Lr1ULVrOf8N3TOn0JS7qGtl3ILyr6soasslKcZZGXzqGn19r+qXTNtVLCBTPjTT37lAnSQTRPymXQHdJJZKhTnPYHn3POOe4/IMtQqC99SIbaRir5qoBuRqSbCAqLT5XVjYnmdb0Dpr3M4ktbSmWElB4hXqTIq1/En/pYepOMgAcddBBkZRctlZcxUS9HyuAny7X2bIu+6pMyrpsGWZr1jpgUbL10KN1MhqmL3gAAEABJREFUdEVH9PQlEPEvA6BusJQuGmYmMk0xT1SOsgeoR9MNUOqfruVS1zEvfdfo/MCYN7HtGAkyzCEFWI+R9ehAkPVZe3DCPGYG3elIIdXdmO501TkaNOaZE7Csxh988AFUXndXeolPFmTVIYuuwroINHg1kMwMZo2QNVyDT1tBtFdISqx4Ch+bqJzu8jTYr7rqKvcfFPX/6J955hnoUzaqR5OI7uh096V9QuJJirkGlx5tmWdus/7DDz8MtVFlNZgvv+xyyGqtwac3cD/95FP3kqTao0EuvkW/c6F+bQudy01c26JLwMygiVRjTteOblQ1CaYzaXcNhTWYWeh1rlk+bGZNrhmzfNhlWgwnM3Mv5EjXeP9lw+P//BrSlz0vReszIMUvZxnAgWPZAIRAs5/m6CiYvagjRuPDYiGd+bmF/Jqg20IhW6PTTrphgXbTznpomJtFWTIFrwJ48q6ZeOmxNED9LfAyTmaBhFQkaDAJtSCMMNpUAOaql/wbMiTgQkB9mk8ACv50rtFfiGrBCQAREVD4ibRQCIJZFgkhndbcRaUfli/Sz9HHsefkJj/lENQD+UckBVcyq2W+Wl5/WSJDMWRhQRqmfJSx1p1ANDSYBebujEMWRz2lkiImRVnrniyaen9Hc4d40Jolv1yFnWJHpVN+Kd3a3ij+tX9aT4+1turFeW1/UHwUKrM4IV5kPf/yyy/dRwoUFj9ak80MMuZJJjKAKV5GNSm1sq4rXq7W83DLqdZxGSc0x0pplTVbspJRTNtQJZ9QAZZSLlnp06KiLb1HXwtTeX1JQ3O2XsDTE3ml60ZGspSlWjqJ4qTTyJVBT1+70AuOyqMviknfkNHEzKBvQ6u/dFMjQ5+2boi+DHrhdlJtUdE2kMcffxwqLyVY/5RFW1jUBkFPy6UnSddSvCz0MhaaGVSX6MmqLdpqh3jRDZR4FEL5yu/A60dPEHWNyxU0HfhMlJ9OSQ/NayWsgBOAWqMa3KTGsPxFKEwJFMML7tEAUOcL8pu5ioqEzMxtxdhh+x3cP0IpJhQ8GqBm5vYg6YscuqPTQFRHCVIUNJhTrfzbYuURVE6PZ3SXJX+BPMzMvaGqu1BtF9FkoTtC1SEon8prstH3nVWPLhBdgHqRQG2K5pMlW1s6VM7npKOysqYLxpsCXYh6TBLlQXljxBJYGAlo0pN1Q5OcJjdNoqE1qCPGmBu/QUAlYNHmgYVpmyzQfkNfeOl+cBOw50fIaGr0qIIIoJtHJEP7vJqOCM103Q1qIKcv5MR4FkiVlyFdy36aC5RnV8bKfVeD5JalLTTLeZ46NhqYV8iwML08+wDohEfgIZttQDadj0hxDpMvS7JSztMsSC+SvJlRvBO8IlxAJwUE+SlYOSEU7G4IeXcuJcZrgRcD5RrxK43yhROGAoS+G44EPYTzc7yGLvsjn5c03E0Ms3XSoZfb9eRUhh/521OtrMyaU7QGav1TGac8eh5kfTQz6GZde3XD+UJ5hOZhxXUmVL90CPEt/jRXKk48mBm7MoDWbCGMV16FBwwYAK3xWuvVXqVLdnoR0Myg9V1rOvjz+VRbNyHKE9UHVlttNWhrhfIym6tPrhRdWYAlW5WVwiwdQVtppKOoTuUTRFPzvPziZ0D/AW7LjcIqpzT1jW6KpDgrLBpSmJWnOUI9RnWE/CuPWV4e5eXlTlmWzqb45lB7pEtJj5H+Y8b+T6c5D+WcPtU8P8Ix7q79qAWak5a7buYp0WERvOo6jFbrhNSw5qkd1DCzvHDV0WaNFWlQCKpWrgZYmMfMXEeYGRQP/tTZepSivAwW08PBqrKCBo/SQ2gwmOUHRhgnV/kE+fWmse4ClVcDWhvlwzTVpzp0UcnVpKN6FK+ygvy6wHRxKixownH5+IxVgzRsh+KUV3m6JnJkKwoG46PLSsDM3DWimz9ZDzQW9VRHinTXHmdo8WdmjfGa/Rg0KSZOJ6P2xjAIL0fFL5eUfkh7HoqIjlznZ1637aPgqqwQxnEKL5btjn6fErAcNWbKKvNDA1IJNjQFNjGD2XN44wMggySRoxQzMOYTcowPnCLH/KEFlDI2+PAtBeoD0K+mvpryyYL3/u6b3Anqgw0UVB3B7ACLo/hjJGiRZW3FKHh5L9cTcRAiS266PsC250EbPlvWgHSQzd+EsKmSQzabQi4og0QYeLl8W6U45yoQZCuYlmRLlaec/kqCnSOhUR6LQ4mWUqWtGlrjQstkgek2HVmY9fRVX5TSHKOvQ6iAtnRIMdXaqbVNcV0Nnu+5lx21hofrsHhUO8zMGfCkX5iZop2Sq7ZIKZWrfKKhROkHgvyCx5sIwcxgZopy5eUxMxcnXUJ0RC/BC0h+3/OhJ+/yK6/qF2+ipfo0dytNrtIVb2ZuG43xYlSangDo5sDM3Od49VlSPZVXXpURHblRiAf1lZT1UF8xy/NplnfFr/IJ8kfLyx/SlT4mPhQW/2G9yjMPLB9jZrwGQLmg435tUCrMPm3k6Mgkd1F3HEEJVgNArhD1h7XMnDmTwsxLV50Qxoeuypnl09XxZnl/NF0dp7KC/GGaOl9Q2MzcW8PiIYxTvKB92dr3vMrKq7g8esSlOyulmeXrEx8aUKrDzKABKFqC0pRXEG3lU3nlDS8KpYm3ME7hGLEEFlUCZvnxqcdtGl9aILXPTXQf/PeDcrovqKElqJMIoN+jBY9XnjNoaKoSFrhxEpewwAW7XoH84mDI1kurBT54fSY+erMGqAd6llUhXVMHo6KXpDU52ZCEz3wvPfU9PnoLqPsB8NUkplHDg1vVKGvUAq8/k8Xrz9bDqAunUMl8PhpmAm88Bzz/eBZPP8h6Xmd5la0nkQaC9YDWaziFmZyxvxCCyToYK6d7wcguYWyMz7Y1UGtO16co2yTS1Uk+HfEpJw+gfJFJUo4+4LRpuHHqdGqOWzhZMB9pYDH+9HRUio9e2m8PG1rPhP889R/IIqstBHpKG5bVI/zwJTYpU2F8V3LN2IEFhqJrtRl7lU8UtF4LhSxOH9E6LUjhNcuXNzPoBTzl03YVyUV+wcxcObO8qzjVJWheFi0p8IqXbiC9QDcwile64gXJVnKUkqw05TMzJTmIhnQP8SHewnTdxOi9M23LUEbVq+058keh8up/3RAIZo20VUZ5xY/qFswa05UmiEe5upFQHuVXuCtCV1xX5KtdPJkZ1MHqNEH+sJNQ+OlxiLyKF+RvDWbzdqbZvHFheXWsWf4iEW0NuHDQmJkb8NG84k95lDeMD10zc3exGvzKowEuWoLyyBXMzN3RioagtO4Fj+xGwWB8dHkJ6D9kasJ85ZVX8NBDD7mxPXnSZOe2xbxZ/jowa3SV36wxbJb3K74FlDSqRyWorFBDo2KHBh9+1uBL0XMKCajcNcKjlmJcEKE9DSG0hzeKNDU9IRonf5bx3Q0ZCQFIVZQh+Br49aircOZJVwJUdtM0SvdOVAB0s18C5wx9D9uvdCVOP+YmHLfX+dh9wGRc9yfKtQ6Q0hzMoYAp1/tYfPgB1+Lis58GZgOJBo/aNlBmwNmjr8OvhlyJa/72BkbsOxFbrHARfnXU65j1HmlIka5jpjoqkXU+QNKQgp1hmlz2GwiPpn8HKplel0cAj+PJo9XZQxYeDFV8vO2nDU8/AGy/7kT8dtQ3+OfVwGdvsZ1zCB1sPvjksaG+Fj5FkmQ4VQ4q1PWkIcEENMAwgSE4oNN+2oKgtVjvFMn4Y2bQOimAP7mClDi5gvJqb68+H6uva0lx8n02ivm1n1b/n4FeaP6RK4Rrn5nBzBTVqTAzV6+ZNanXzOaJlxIohDyHBcwa85rl/Vr7lU8yMMvrFmH+5q5Zvkw03ixfRjTMLJrk/DISqn8kdxfRwkl6iupX3haSXZSZOT3EBZqdVNbMinIwa/SHWc3mjQvTVD70t9vNT1Xtzt5RGb2OItRV6GhgmDV2jpk51szMdagLRE5mFgmV3mtmLfIRrVltEMzyeaN+s3ycWd6Nlov9sQQ6WgKaiKM09ckifQVGcYlkQg6a53GR3eRUU92AXCYHPRU3TcLNwSSPcYKUa3MKmgcvR2SJnE9/AVkfYFjw6Pfo94XAR5JuUm43gs+2ytqMGYAByNb0Q6W3MrSDwmP7y6nLUu/DWT9/Ak88+CrOOX0o7r5tNG6+5ucYdOBQTL7oFjx+OzVsDyzPO5VZwJ03vYR1VtwZH76cxsuPAioPylg0k+leOGDPQzHl6p/goX+egAvOOxnPP/EJRg17EJnvmFdMSFmWjhi68ksJb2BiBFZv6BYgz8YbN+ONgQD6yzne+lFmPbMb48VHZuD8s57Gz497BqePegM3X/Q9Zr5NWdQaUjnewKSAMl6GmRqKkuORKYXDg5lf8Heeo7lAX5rSPxCRImZmxcq1jmnroSJkKJL79NNPY/vtt4c+JatvJytONKTk6QV+haVYyyIri6rCgpnBzORdrDCbHw+Lxp5ZaekvGnddrDSvG4Q3jKHfPbUqHZ9e6Uh3Tcpm5i48s7zbNbmMuYol0DUloK/Y6O1sPV40syZMauFrEtHVA2TfS+Sw8gqrAFRAQCOpQ+iXO4eNaA3VzdKi4aifllaIhtzuBOq+UDtybCdl1auqL6oqpDUDRo23sgyo/hh47rmvccpv98c+w4Ae6wGrbgGc9qcE1t14OZx9xgTgeziLcS3dN15/Bn/+yxrYZIMf49qrX2cCD9LWupf1f0DvFSigPkDFasDORwKXTdgfn3/8Nf51N5mhAg6nMLOMXGeVpr+OiPad+q07oCWef2BbyHtVhrLMleNHfVbBRj/aColZq+O1B3O46YIvcMyu/8HPD/wMz9wCfP48UEe56B9pJpP9EFi+fyDFgRZ4M4NZI0i9pIfmAH26TF9akJVZVuhQaZZSrW89hwzoaxT6woL+6Yf+B0MYr+0D8uurVbLc6qUybSFQXIy2JWBmbWeIUztUAkudAt2h0ouJdXkJxAx2rAT0j4LOPPNMR1QvFsqjRVNutwOtFKlkOaZ/Nxv/94sXcNQBV+DoA64krsXRB16LY4hjD7oGQw+4ymHIgVfC4YBpGFLAsQdOxbGMF4ay7FD6HejPpyl9Kmm1AeY9piWQ9jHtQUtlFdeessqjvC3gKMYNPPAqjDj6XtRNB2rq61BWRqsnOzowD2XU1R5/mApcTQKbblUOpJhQQ81WqwqD2267EXLpSnz9EeOphP/1/x5BZXk5Vu0PHH1Ub7zy/DtAlmkC02EN+G7G+wD7RQo1WNUG21KZZpk3X/kQ11z2OY474AbiJgw74EYMO/B6Qu6NGH7gzSXDsINuRhQdVdeI/W/GiP2vx4gDBPoPvBHHHzINYwbdhztvS6NPVW8ksylk5iRgtP6vtuwmWDa1CVao2AazP++Ls059CocecDWOPfomXH7ZY5jxPW8+nOAoUx7sIp4795DyqydUZobbbr0NskInk0nIgqytGPrnGfonX9onq7Cs1aHyrHlECrdf2L2wKRgAABAASURBVL4xdepU6H83yBodbYWZuZuCaFzsX4olwBvFxdV6TXWLq+4lol6z/MVs1rK7RDRygRqhIdUWFohYnLmLSWDUqFEYO3YstMiFViG9dBKyqUUwijC+S7pU1CpoRU3Xl6FnVQ/suceO2PEnW2CHnTbCDjuvh212WQdb77Q+Ntt5I4fNd9kYW+yyGbbabfMitt59C2y9Wx5b0r8V/SF+TH+IbXbdDHlsQbcRYXpr7ja7hnk7p/xWagMhfrZl3dvuuCE222JtIAGUlVeijtZRKb2zq+thjKuR9bO6GuX0u60YXgqoz/d2755VyKTrsUwvhqkgP/rAZxh0+LGQjrfZ5oD5PXDZH9+Fs/qnweIeevdbDpBFmWRo5GYmWrlr5rDKLNbZYFXsvOfm2HmvjbHjnhthx702wg4Om2A7uh2JbX66EUL8mLSjCONbclvjYXvy2yL22ASK32HPdbDDnv2x9a79seMem2H5VZOorU+jjrLMNBh6V5UhTbk0NGTw3fTP8P0PH2CNAVXYZodVscdP18Ohh+2Cnj1S8I2DGvwFuiuR2xSGpn9M7dDDzKCnU+4/zJ16CvRCWENDAzRX9O/fH/qW8W233QZtxzjllFMQbtsQE2YsG+SgrR76FrC2cPztb39zW8TCOcXMlLUY5wKL8RTy1RoLZgazRrSWL4w3a8xrZmH0ArlmVqxzgQp2x8zGeYMAkRPYhkCQn6C3pIdXUuox8VgCsQSWeAnkuOh110Z++x3Qd9neOPms9TD05xth5OmbYNQZm2HUmVth7Jk/xrgztsIpZ2xZxMlMG9ccZ26CcQWMpVsE840tYguMPUPYjG4jxp2+GcadwfItgWmdXf5k8iGEPJ3y260w5oz1UL4soC22Zj0AH1Rgyp27ww5AeTKL91/lspUCE4gMwePfDzyDwOYi2Qd483FG5HrguZcfxTm/ex2n/foVwKvGay+xAzym8fByKWRrK+FeDqTCrUXx49eAnJ/ARpuviW32BYaevB6GnrIBjjtlI2ITDKc7nOHjOxgnnLwBhBGkO5I44VSGCfkVF0J5omiNj+EsKz6jOI50XTtO3gRDT90MQ0/ZCiN/uSMGjlkZ2+wEoCKDVI8E6oLZ+GT6u/iu7g38ELyAnfZfEaeduxn+Pn4zXHz1bjj+xE2x+jpAWUUAmIQv4RUUaHTuTwqlFOApk6e4/3/w5JNPOoVYSrUUaX3LWP9k48ILL4T+SUpz7mStVpys03vvvbe8MWIJtC4BDvmmiYXJpGlkyUKdW1vJmlEiwjHZWAKxBNotAS2e7c7cFTIamUilMSf9KdCPels1lQ/NiBEEPhU4hnMFKFwE44JmAMPdGcX2sN2uHVKKe9Io3EA5WA5l0qSpny2/7Fr48ENg5Q2B9dZbGZf8+RF8/m/Ks5r4Hrj3YuCNl77FmJMPB8qAq695Dz9abTkqznti558ui2NGboyhw3fDR+9Mx3uPsAxpoj6BKlsdbivIDODrZ4Fzf/cpVlxpTeyyD7XwBPORlksPXfEnJJkmyN9BCESHNEMXBb/Cwjxh5V9QkKZrT8HNBRyDBnwzG5he+zFe+9+TqCl/H+vuVIeR52yA25/fFj+/ohI/GQj0Wo9t5lFTG6ChJktr/0yYJ0EyMjyMnigYLOWh7RZBEMBP+BgyZAj23XdfKE5Ktb4woX3R+tSdnmKVlZXNw0p9fT2uv/566B+PTZo0aZ70OCKWwPwkYBzvOSrWZvTML/Mipmu6X0QSC1Bcs/MCZI+zxhKIJRBLoFQS4DoPK5+DdDJvBU0uy1lXCpCUGSpruUQO5pClKwR00QjmsyhYRlsdimBa0d88LQwrT4gwLnQVH/pbc5UnRLM8UvAWtH5tywjhyot2PRXogLAv8MKrD+KEo17CD7Wf4JGnH3bK7sRbfopcahYGD7see+04FTvtdjn+fslNOHzI3jj6lAH46mvgv6/cgUOP+QnW3RLY9ZCVsPX+Po4+YRnUZD7DVTd8TKECgf89br39Wpx3yqcYtN/tOHLQFMxNf4Gz/7wTev4IKPIjnhJkiJbvJu1z8czXXA4LEyYtI1Sn5BHQL8gfwqUxXvkEhZvw07xe5m2SJxqWn23y+nhAL6DPKsAWO1dh7O92xbUPbInzr9wU+w73oI+gNHhse28+EeDYbEA9x+McpCpzqOxVzsaHRy70dLprlldcpk2b5v7vwejRoyHFWJ+hk9IsZVqKtNCcOf1DlaOOOgpnnHEGVl111ebJcTiWQJsS0M2bhp/m9jYzdlAir9YOotQWGV7v8yTHyvQ8IokjYgl0NQmYmVsE+/Tp4/Y2fv311/jyyy+dX4uhJixZlsS3WX7hlL+rQvwKleXlcCoGFehlVqGmI8VZ1jvNiGyGS4MxTw6BBTCHLJullCgYFR4shygUT6stHGRZFFjWhQuu8oSIlpVf8cW8KisUyoXxyhNCZaJQfJhPj/Yd2lfe7ScUrYBEqNz1XJHW4L8PxC/+8DMMOXkL9Fnrf1htszpAOs7KwC3PH4J/vzMYh43dDGdeNBjXPnokxv15Oci6OjP3Dcac8VMcdDyF25v0Kgh6Qav/VXeOw5a710OK55jTd8OpZ+2HdbbwcOIvd8XN/xqOW57YHpvtyvw+QYVR+bSFBB6ZM0Z6jA/BqCby74CwkbYDaWl4O38YR3eh6lO5EGyCa4/PfqECDa2LrGvzXYBLrt8Vg8cClZSvL7lxmGprc6qSGVjeTxmSFQG8snoE2iWe4figOJoe6sBIDIs24TmS1BFeXVuiE7qPPfYYrrjiCtx9990It2foRcEwPepX3PobrA/9C+dzzjlHZGBmbcJlik9LogQWrE2RYc4hg/yuQl4kC0ZlgXOXuAaS14TQKltMh7WaGifEEoglsPgloIVP32kVJ2uuuSa22247SHkeO5arOyPNuuc1rJe3R/5yddz6zzFwn0fTC3BURXJsUx7GEANUo9FuKD8RKq5huebh5vHFdJbVUQznOckr4QV/WFZumC90VVYohgtlmodVVgjjQ1dlI5AiDU7TfiUtoj9ZDvsesxp22A+46r4DMP7GffNi8VmgqsFZTo8bvQX2OKAPVh4AuG0OvDFZf6sVcORxm0H/ME+03JRPZVDW2P5bA4eMWQ9YBtjjiPWxx9HL4bARP8LOB/bFCqSBCtIuIzxCh+NTngI09NyND9sp16XT31GuZNQWFqQe8ReFeBfUNrmFJrntQokMckneoDhQtrp5kJwj+TR+A9Yv3SGgYHNEo5BFTDd8cjsXUoTDGvWZOlmTBw4ciA8++MBFa3tHKpWCbryNN0Jm+UYdeeSReP/99/Hxxx9DNLRv2hWIT7EE2imBgJqz8XpasizQ7Wx8nC2WQCyBLiKBAhtBYSbaZJNNsOKKK7pFTy8DLbfcck6RNssvfmG+QrHu4XCilRKXo4JWl86itlYbeGXF60DFQ+IRQonIH0UY35ob5g3Tw3DohvGtuc3zheHQba1cUWkEikp0eSFzBV35BYkqDfg0NZclgSRl6ScAd+cR0LEGZBrqYFTATeWYxynQzMJC0H5yJiPNvDkq23NpjM6Ibi8gR9cpk0Y/8+eoIOaQA2RJ9wBHh2lgvIMz1iihA7AwtBa0jAFqA1vEVnl5MC4AKD4JkQJxbWMORdKhvqxE5gBMcVkPXlBJpGBZCt/dpZCIZESK6AK/P/7xj9h9990xYMAAvPWW/qUioM/aaR7xPM8py4cddhhuueUWPPPMM26OMTMoDfEvlkB7JGCNmXhPxjEFmLtAUNKfZpqSVlAkrovdTQbFmNgTSyCWQBeVQFQhTqfTnIwMX331lXsce/PNN+PTTz/topy3n63AS6O6pgEe9Q4vGaCiomexsCZGwdycJV8I8Bf65TLY5hHmkSsos9wQCrcF5VO6XCHqD8OKaw1hHrmC8skNofC8UGo+NkcJUHNTgItUQLdubh2oL4P3HNDtRuEeC2A6M8PBqOcVEhJJgx7VK13lZTml3gfp3tpPXJfLwPPhilVVAVnqjrS5ujjppMrvgPxP3DhYPlw8KywUIxbBszB0VEZoXq3ihEi8459huXSoMKMIhRUfOImoJwTFEqIjuNwsI8G4fECO8g5ogVNS4OKVUWC5xXRISdb34h988EHss88+2GKLLTB+/HiUl5e7p1iyMm+00Ua4//778dRTT2GbbbaB9krre9KadxaW7bjcUiKBeYZ3rtBwzTQFbwmdyJVZwlqak3ZtWzxVN2clDne0BDSA20JH1xfT62gJaNELaQZBAN/3eUcfOAwbNgyHHnoozOaZucIi7XLNzNEza3Q7c8HMkcscFY9kWQoN1AL9lE97XQOhdhlTUIBHV3NVO2EABJaCIA1QbhSKCxGNl9+AxVo+AKSAgbyELWdMIQ6Qwlvei6ZhyixJq7JHi3KQ4NjwVBDIUbA8IOsyPANkEQ1S8BM+9GN3wyhKn0mC4npUJlyTXTlGUN9GgukK03FpoQtHWLQCkAz7KzcPIDPtooJUEYFHvxCNa9XfrO55OcyxlQKcqPOSY1TkUNsUzLlWMmQM0XHNlyvZGq8d93iAaUwPgjQ9+SNHmQOJfIBn1dYSmNShh5nBrBHaqtGrFx8nsBb9F9Pzzz8f+pb8pptuCr0s6HNumTt3rrsh19YwZkMymeTNbIVzFY4RS6BVCQTg0xemFlyPrgzPxij56ZT08EpKPSa+lEogbnZ3loAWsJB/j49YBTNzC2MYH7pSsBcEehtf/1zBkxZFIlpARV+WqGi9TOqUI0tFsK6uweklVANZp6ZEIVQ3GBUqMUVXcQuAUFkO3QUo6rKG5ULXRS7AKSwXuu0uGpVBWIgrVAPBpEytFED6/SytyVlk9Ak2jwkCVzHjCmauny0sDMgbBVCUqqQuih7VyhAKNwULFI4c8xW8TRxyQHUXC4UmhBYi0FLdrZNpKXfzOLXDK7RFaaRmjdC1xxAPjd4Mb0qzKkBXmQBnkGYx3gdDYMbFeuiLHFKY11hjDdx+++24/PLL8dFHH6F3797kj2NpsXIXV94tJcC5xvGtIe9uXhXioHd+ugqWCPk5q0TEY7KxBOaVgAZ0FPPmiGMWrwQqKiogpTZqie4ojvTyoR7fzqme40iqLnlUX6MyoJjSQhOfz5uCyiqgT78Usuk6p0TDqXOgwpIjMoTcReDFWLYtMLnNo62ySmuzMBOVpy0wS5MjzMvI/FXKOwy3UYMRPLINcwGZiKnrJMoAX6Zixs/3YH6n7zZ351PQY3pbYHLHH51I0VhXW2Bym0dWQpU1msiGGrIIFkrJQC0o6HZ1yBNBvo813vOIJHW4V9e3tmb4tDrfecedmDVrFk4YcYKba1SZ5gC5MWIJLLAECmPezOONGOBxbl9gGgtRQHPTQhRb2CKdXN3CshmXiyWwlEpAi5z2Kqr5+k9gjz32GB6L4NFHH0VLeOSRR9ASmucVreeeew6ibWYYM2YMGhoaUF1dDTNTtZ2HnIdP3gKef3SOzXmyAAAQAElEQVQ6/GQFctm0qzuv4+Wkmrjw0niSYqV2Sxa0aQKFrsk2uBBe/e9cfPgKAIpMBiAam/OPUhkVH11PAi0pz53NpZm5bRlSlDN89KPtHTmZyMlIMpmEnkLRGx+xBBZJAhpSZtrepNlrkUjNt3AnaLSsItqO0N/6FT1fpuMM3VkCHA+Ioju3Zcnj3cxw+umnu8Xs8ccfxx577NEi9txzTwh77bUXBCnE84Py77rrrth2223x/PPP01IQ5PdBej6qqqrc96ZLLVEzg5mhpo4WZ+qCd1/zOX59wnVADWsOElSa08hSK2yA8ewz7LnRytSl6tAVqgZnkaA8PIKWaD4STWnjcy1wxpibcP34dxAxTis7pEwLuhETQAkKAV2BYkUTIP6VUgIc6hDUn0Ip62oPbY0Jfb5OynPolyu0p3ycJ5ZAixIIGmP1IMY8a4wooa8rXFMlbF5MOpZA95SAmXHhs8XCfJ8+faA350866SSssMIKTbD88stDaB7fWlh5Q6y00kqubL9+/TBu3DhoL+TKK60MvWBmZtDC2pkNlqLnN6wEv35lUEOEZ5oOc27bRpZnAXQXjKclJ7fWJFmihXyrCj7eeFjDyvDSKzrxSI5CPk98XuwS4LRhxtNiZ2TBGDDrfjwvWAvj3CWVgCaswKNhBtBICmSkZRgl/GnFKCH5mHQsgVgCCysBM00DC1t64cvpRb+ePXviL3/5Cz777LMm+PyzzyE0j29P+PPPP8c333yD6dOn48ILL3SPcy1iKTDr5PZy9ksEPnzVq6rlwnOCy9G0GhAusFSfaHmmHPKqM2UjTZmyksx8+Eu1ZBZX42WtDdGcB8U3j4vDsQTaLYFunlHrSY6KtJvKO6EtXifUEVcRSyCWwAJKwMxgZgtYqmOyl5WV8S4+cNs4As5GUWjPohCNa9MfBI5WSwu79j2K48W591F7d/1c4zTo0WLhUYnOx0htFMTl0g6PtnhJxQcKw1K6NOJf15MA+8cz9VXXYy3mKJZAh0tAluYOJ9o+gvFV1j45xbnaLQENqbbQbkJLRUYzg1keAJyyGV38komk+4cD2lKhl+2aC0XKZ0dB/+xCCJVd1S1lWXUaLcWC7/vuu9Ce70GwQrzyzA+iK6gOQX6VkQIebYPSomH5lXdh4Xme21+tLSP6Jm2PHj1cG0BLhU/92MslID+QYF/4PFPmEHwYlWkspT9j2z2keE4BPPOEwPOd16dkOGxBh2GDmTGH3ID+gP48tLYJaOWXY3wUgAELAI81dSRAeouCjuSlOS2jIHUNIPIzM5iZizEz5EzSVDDvevQKdNwhf1twmUp4MjPHr1nLbgmr7hDSmqtEKOwHs3w7FBdjMUjAwDHPeguuRn3AIC+VfDz9pTx0LZWSfkw7lkAsgYWQgJm5hUZK6pprrokZM2ZAWyD0GSghl81BCEmb5fObLYJbUIbNCjQYljLvlOQwrjWXeV2+5m5L+cM8YZrCoV9u87DiFhKhfL777jv3zxq0NUUKuZTqMM25pjNPnIE1KfpUpARP0UsxjHIQwJ8WJjrFY2mXTVEQXdCja7Hz2YprjCXQyRJoPilxvupMDuI5sDOlHdcVS6AdEggXPzNzSrS2OugFPH039cUXX4Tw/AvPQ9An4YRnn30WJcFzJaJbKn6b0X3llVfwwgsv4Ntvv4Wsz3qBUTcgvu9Dc63PGdDz6OehsOueeSZlF7tUniiepu1WhIHj0iPoQfzrbAnI+hmied2KD+Oi/jAudmMJxBLoOAl4HUcqprS4JRDXv+RIQJZfoaamxm03WGuttSCsttpqiGK55ZZDjNZlUFlZ6b4iov98tvrqq7vP5ckC7UuB5nDJUVkO9OFQugzGR0QCWhyMYbkCvU0O7R/Pb31pEh0HuoAEzNRzXYCRmIVYAkuwBFqaF5fg5sZNiyXQdSVgZkWrnud7kCW6LFUGz/OQzWah/+AnC2rfvn3Rp08fh/DzcfpUXKhIL7vssljaEcpi1VVXheSl786q53VTov9+aGaQ8hdQcQ50yjFIKE4IeBJUZmkHJeVEIFdwgQU86b/hObCcxByCwfBon8v+Ytews5hdfjpLy2GWl76ZuXnCzNw7E278UghyBXqL8QoLxjEuKK1LQX0YxWJmzsRLGzyE74S0kSVOWhwSaKnfAq/knJS+hpI3Ia4glkAsgVgC85eAmUH/Ac0sr4AgDeSyQDZHdY5uTubo+ZOJc1AC81M0mCU+YgnEEoglsERLoFGBLlkzuThZhHjoj2fgiFBibyyBRgmYhRcJYJ5BVlPBzJzlCfyZGc+ArNPymJlLk7VJ4RjzSiCUTShLKc/GGdCj7EDXzFyhlowZLmEpPkkybsvGAshAb8IvQPb2ZRUjUbSvVJyrK0tAF5zQhEfqDRCUIDRJ7NSA5lgzc/Nrp1YcV9Z+CVhjVnYVZAuxBZ2wGkm028dlo915OyCjLogOIBOTiCUQS8BJwMygCV4wy88iZuYme7OOdTGfn1nb9c2neJs8z69sW+mhbOQqnx7DmpHXBOCVp2EV9UCKfp+pJmjB1lyVc0s4Y5biQ3KINF+ioYyyibnI+jXQjUcktehdGOW5kxejIq9Lgie8OexWbdFYEopMa6w1RzGxtB4a9CzIcTizfh5+thxejpMCazUznuOjS0qgWdcEQRbGiSQIOodbVtU5FTWpxTWao7RJZBxYMiSgfm0LS0YrS9UKM2uiSEbrMcunSREU9CKcmUF+QWHt9ZV/USA6QnMa+hpIiEQiASEabp4/Go7m1T9qEVRW/Ib+MH9Ldav8gkA0BJURXfmFhJ+ALNAJz4clgZryL/Btw7to/Kd6nHkt/9/34NTnpVOJzl/BOksWDSguFBQPGoA5+AI1ia8jcgOkNAfm0VXuPHIGCCj88rFw9Jr7XRbRF1yg8SROhMaYpdNnZk3mB41tSUKftNSXevStcynTZqboJnnN8nEuoaucOAiChgYEDXUAxw7cL+xpDYQccpDrEjr8pG2yRrGY8SSLZYIuh3yuugy9/JWALCAZm5mTJUrzi6kurAQ4NNRtGiJyBZ+0jENIfnpLenD4lpI+W6GWqArTiWE5RShMCRTDsSeWQCyBBZGAJvfmkNK4KPB93335I0pDceIrl8shhMKCmbn8UohbQ1hei3sIFH5m5hap1soqXuUXFvqHMGqLyptnEMBfwJn2Z4etgQum/AqgNZpRPAzQqtpExWP0UntojhYoAE3VFA+qgL9cNBrDx24CJyYlGU/x0ekS0LjW9Z/NZaGXY/XPlt59913U1dVB8e1lKLwmO8OFnq9TMaVmDKR5udFcqHqR4Z2ZNFZpQ3RzdHMwnoN5XopUfqG97WueL8cIgVU7+u5lCPGVzuK9Nz/Hi8+8g54VPq3QgFl+cJvlXcS/riUB08REltg9ATIwT2NKvUuE+ieTS3GwqlKQbUaTDWsWA5S4YYh/XVQCHNRu5gzdLsBmF2bBzGAFpU8KoO/50MIYImTdzIrxPhVgKY0LCi3GghRWQf4QqWQK+gpIVVWV+xSc/pufFmxBFmShxfqSSYhWKpUvr8/KhVBZQWUF5ZOFuCMhWRjlh5Z+HrDmusCW25Uhm+FanqkH7w84+1Kz1p6ORq26pdJLURwFpdYaTxINL90tdwVWWYvhQhJ9kKW5ORTfkWDViKIjaXdHWmbmFDzd1FZVVkFWaP3X0rfeegv6Pry+gx7i5ZdfxksvveS+I69vo0fx/PPPo7PwwgvP46UXnnN4/ZWX8O1X3xDf4/WX38ArL7xAHp/Di+TzhRdfwgsvvoAXnn+xVd6ibVhg/4vPkf5/8PyLT9J9mvw8j9deeRNffz4TH3/4HaSXUbzOOKB5V3OJnl6Z5WVuZt1xyCyZPEe6Qt2S451Rq/N+B0ogMv11INWY1BIoAS1bS2CzunmTzMwtoGEzNMFrotfkIXi+h/ZC5QTPYxlCft/z3QJiVEL1b2z1qFj/iCSdTkOuwooXQh5acmUtUl79m26VlRtC8UpvqZzqXRS0RDOMy+YySBN+KgPPz0I3AGxumBy7TgIcC3IDnYQsstka1NfwkXslw3xOqq0bUpwRmqMZHR+dIwEzg+/70DWbpRVan7PcYIMN3LfhpUwvs8wyEPr16wdBn3QU+vTp4z6D2afgKq6z0LtvX/Qi+vReDj9aaQM89vAbxGtYdeUN0Kf3iujbu18T3vowb2u8hfwvsNu3D+vohT79eqJv357o3bc3w32x1prrY5m+q2DunAAVKfBmmoiPWAKtSMBrJb5jo4uTb4Sse0waCcferimBaN9ZtimPcR82lUcHh7Q4iqRcwfmpyEpJbg4tooIx3eUza6JYK25+MOPjUj7G1OPfMK/o6bGwFugZP8zAfvvvh8022wzbbbcdtt9+exx62KF48j9PQot39dxq7LnXnth0s02x2eabYesfb43TTz8dM2bMcLzcetutLm3bbbfF5ltsjo032Rhr918b/3nqPxB9KdZG/qMI+SiF6yc8JCsMiaRk5QMFBdA4KxqfLRsfIzNyqT4oCrafZ80DuofO+LyhqkRZZTny4rF8ekF2kDYtMNYd8gsuEJ86WgK68TQzuBtdz4euIz3t0ffh9S14Kc99qYBKeRYUJ0jRjkL5S40VV1wRq6yyirOSq+5l+q6KPv3K8e+7PsSdN7yKvsuXo1/v1dC374pYpt9y7lv2+p67+FLZliA6C4sVV1yBCvzKWHGlFVnXMujTdzlUVvSAZ+XoVbkcyorbuhD/urAEeA8PPZZyTww4TyksdAbLXmkrIfk2lSymw0rLQsmpL2UVxFtvFnuHW0TJ9HwPgpnBrBELy6SRdnl5OaTMeh5pEwqLnrZtvPnmm9AWjLPOOgvHHnssHnvsMacka6tH79698dVXX0HbMc4//3zsvvvuuPzyy3HAAQc43urr6/H2229jjz32wBmnn4FTTz0Vv/jFL7D22muLvCtn1tgGs1L7Odtq1p1nts3Bc9s3lvYVVPMzZRAQaPazZuE4uFgloOu2OQNm5q675vFdJhwkgRqgT4+1ibWcH3oxwekMGnMaf0KJOHb1kL7Gt8CrXjWZhXUrFKPLSiAgZwIdd8jPPg14o2/mw3IePMKllejE0VMiyjHZWAKxBDpUAmb5BdGs0e3QCkhM1mdtrZB70UUX4f7773cv8DDJuVKCDz74YOy333448cQT8ac//QnPPPMMtOdSeWStloVrr732wnnnnYepU6e6vZj6l+R6pKy9mgMHDsQRRx6BESNGYOzYsdB/C1S8yps1ts2sdH6QNnizoDqBZtMgJ2G4BXUpWEjzAmj97GRRSDa6TeBWLEbGx+KWgJlBSrRnHoc2/WaOJbO86wJd8JRJA8lkgigDH/o0cqhx1/y6bEztIJ8HBCkgVw4ErF/XPIe0mWRGLUy10GtmMM4VZoaosQLxr8tJQEafkCk9nQn9pXI5gkpFuhldDkyU/IJoVmccjCUQS2CBJCDr8nPPP4ctttgC2KgaTwAAEABJREFUDzzwACZOnIjVVlsNUpzLUmWQpfnjjz+GJqo33ngDd9xxB4YMGYKNNtrIKdiyVvu+774CIPeDDz5wXwcQXSnRZob3338f1dXV+Pzzzx1d0TYzV36BmF3UzBlOf3VUkuvoFtbLIknNV0IxIvbQpAMYAMmlnm49A/nNzwzER1eTgJnBzBxbul7NzIXNFo/rGCmcPPIgb4L6q266G+ozQBLkTyjwB59hg/KaFeI6yHU0NY5lBZfiDA/uZ+DcpgTAFGV0zRwfZob417UkkOemab/k2H2d1VUaInkeOvPMBiIcsJ1Zb1zXgklASgX7SndyeWSdkhMEdLlwBoGUHuOCymHER28Kw/Urw+12F4ylpS23mRUnb7PS+yXfP/zhD+jTpw/uu+8+3HrLrZB1+NZbb4V5Bu1JfPDBBzFgwAC3D/qJJ57AbrvtpmLQQigF+sMPP4RojBw50rmDBw926bU1ta7873//e1d2jTXWcOlm5tL1MqHzdMZJVXLNvm8KMPqgB4DaQqXaoiRwCPMojuJC6lLjhG2H5OSgyYCXOp+PBpTVL495Elf/dWbeash5AAWoKx1Y0AQDomFRiQLNf8wPoVl8yE9zt1m2pS5oZjCzedptZsX4ivIKd+ObTCadq5tg3dwuDpgZ9A32pJ9AZcU8bNMSDSJBlBHkl/k8z4fPm/KOhHhI+Cle3z7lJHAt8wPI8G0WcM4LkPTInw9Xt5kxAObNu4h/XVoChe4qOY8aIiWvJK6gu0sgOky0/HX39sT8tyYBfQJL1mG5hx16GLbdblv06tULUoo9z4OsyD/72c/w3nvvoaamBn/5y1+cBfrRRx+FPj8nurrZUliW5dtvvx3jx49XNKp6VGHmzJkYPnw4br75Ztxwww048sgjXZqZIa3nuS7USScO5Y9ez+Ldl+bAbXluXm28VlIiFJJuKCCX+nI2A+sJvPTk1/jf2xkompniowtKwMyKCp/v+dD1G8LvYIW0vfRUv+95TinV/yzR+NF8IYDGGrIFP5Fw6b6fhC8kfPhM6HCIrpdAwvOdbHy64sPMOK7JTBfs05il+UiAd0ABu462nvlk7Jhkr2PIxFSWFgmYcXJZWhq7FLZTyrKwySab4MabbnTfX9WLf3ppUC8W1tbWQi8L6hN2WgxHjRrlFp///e9/8Pz8dKI37f/73/9i8uTJ2Hvvvd0iLuu0LNlyt9xyS2y44YY49NBDsfHGG0MLl0Stlw/ldib69PXhceFEGZBxH4HuzNq7X11mvP6pN/ft2483RD26XwOWUI7NzF1nRs3B930IaqoZ4xknv/ZH61rTje7ihE8FWVZwS4irpmASEuQ/QeU2Dyq4tEIrf4tQ2sKC5Xxq8fn6qNTTLwU65IgPWyClPhoXpsVu15SAmXUqY16n1sYHJk3r461C04g41GUlkHPbN7osezFjHSaBHXfcEdqyMWHCBDz99NPuRT/9E4ZQAZZ1WdD+6PXWWw8rr7wyjjnmGLeAf/31127/s5hRfrlSvPVpLVm2zcx9P1rxUsK1OHm+x0emOVde8Z2JulrA52KNBsDzOnk67MyGdmRdPtx2nUw63ZFUY1odLAEpzILIGpXoKHTNLTboOhM4jmDirvG6M3o9z4eS8zA4PhnwWoLv5dMXygVIEqwOHj2+PAByBhS/ax+rKJRIFz8ifaT1RDc+XGY6hWmv9LWwikgDM7ReIKcBylGav3pKz0Jcw8JJgF2UpoJhZkgmE9DesCghMx8asNG4BfDHWbuoBI4//nhnPdYLguPGjXMv+0kZVl/LMi0rtD4/d8stt2DPPffE9ddf7xYgbe+QZVkWauXVfmg1MZlMOqValm19Ck8KteJFU64ZBxo9KkOnU4/KSsDtvZYC3ak1d9PKPM7n1UCCNx3hEwMpHK21xmNCHjmaT+YFk+OjgyRgZjCzIjWnePqSPly8mRVddJWfD/i+rMxJtLiNqpP59BIeevRIupeb3QOpgPwVFOtOZiWurj0SMMA8YO5sUBeB+ynsPJxxSr2msOp8VZ111v4UpIBEeWfVGNezKBJIVrGv/ISbeKUIuTfxF4VgXLbLSkCTjaB/vqB9yg899BD073HvvPNOaNtFMpHEvffei5dfetlBLxnKSi2LtRqlR6za83zXXXdxMuPKo0hCCrOU6f333x/6KodeOpTyrDgmu7xmnAkVWIzgfX2hdvmEQjB2gEj3SGEWsFT/4sYvsgQ0RXBcmRnMDOCB5j9TpuaRpQv7ZaCxCKiorECQZT2cBnzeLNLX5qF5c2HQJtF2JC5MndEy7aiizSxRWgvjb5N4exI1PHjvVdUH0BDSFzjQiT+vM+pSJR4bqmuhh968rQfq59AUzbjOqD+uYxEkwD7SvlW9ECZFyKxxlmPSIhCOi3Y1CZgZJyFz2yk0GZqZY1F9L48WEjODXAH8aUwoXQqxtmnIwizXk6WS6YqXYk2vU5T1jWjn7+yZTpW2AM1JTaO5YjJCZ4He+ChKoKlEYiW6KJgu5TEzdx2HTJlZ6O0erl5a1YUpdALHEo95BRlRaZ4+vc7NVWVUpjuh+riKRZEA+6thDuclKSNUKaVnCj670+fTDTNz14JZ3l2UqloqK922pfgOi/O0IYWNM1L0cik8/58aBDVAWWUCwRxG1i0cEJdDKWRgdYYQ+rD93Xeyf5I+1hywOnKBhP7/7H0HgCVF1fW53S/MzCZyEEmiktldQHJYBEQEyTlJNH4qOeecJCcBxQwK+Jv91E8FQURQwIBEJSNx2Tjpvdf9n1P9eqZndmZ2wnsTa6ZPV75Vdbr71u3q6n48WY1gtOlMpeu38cGAjF39iIqMXzOrPsaMoEf1WrYhozqwwA0u8qvXCitdZRQng1prneXXj7FUKpWONc9mhjRfEPaselQOw/znTmPqqLRFOrsZ1PtDWm02zK0ZvdWJF/CxaMJXytboba9vmWegvwyYGfR0Vfpq8rQGRGGMPz4MoEK0E5z0QxYaCjNIx8yBukMdwwdaX/f8Y7p+HQ+qocJU7ngsfvmjtxHEAXgkoXsvgUeurltQV+kafoy3BeyRKrLKZNx05f34HY2y9/4FzH0RmP80sOApYOEzXdHyLOBRBw7Ic0sW3Xhu+zfrfA4ovwTc/0PgggvvxBY7bIOllsujpe0thEEJOR7MXC5GEAIBZxrNDMY7eDOr7+nkpfeLARnCyihjVn7NECucQmEZt4IM5jQ+dbWWWWl6U9/MMH/+fJhZgupxNjM+6sxDM9EyelOZWuYzZcoUl1dLNDT7LKgdqkt5NUOd1mVWlUtXaYpPXbVBbVE/FJ8iTVc4m6Y6lJaF8vQKWskyBk0/pBAxF8MRDcSYXtB1zkTfcUDqpIAXvr73LK7ET5qmkaoK5lBKB6AxwKFTyoj6xnnlZuauPbPR67KBcNDJYvKGMI4joF8wM+h9G+MtLH0Q0MufGVMHAYmTnoDRQqaNYjx/GxoKmDv/TazwfuAT++yO8y+6Cw//HGjjGDn7bxwXOW7Op90ie2UB7ZbUZnF2CsfM1ueBgaKNZYaCgdbXPf9Q6lbZ7vIGGpaMwaKFtspC8j7378CvvgV886bHYZVGLLUkEBpgpvPKYNYJ1PhPp3CNRXYVF6RK1kWXscEG6+Ccs+7A7rvfjE/udg323ucW7EPsvdctEPba82YIe+xxM4aE3b+KPRxuo9sX0nxVt2b1VuXt3lfdSkvzVd16178H68zCcVStm/799/sWDjrom/jYjtfh5FOuxDY7rY0Dj5qBBW2zkeNMtAzmMMwhDAvQh+jNDIEF7iSF/xtRBmRAykjVMVJDZMzqSxeKl6EpV4OG0gUZuGEuhMoov+IU1q8Gar1zuVJ2X1uQQaywK19deqFlPSoneWbmZqk1E62wZAnKL1dxmtkxGt8KC2aGNF1htU9vvpslyk5htU9tUbqgWXCVMTMFHdRHedQWtd+sM03x/YOzCKtZg6rLG/8Jb/iRFxoXMoLpIy8BZ3jopJslsWnQu56BsciA7gkhA56Nb2pqRFAE9jnsA9juE+viuOMvx3bbXYr99rsOe+11M22UG2if3ED3RroJ9tjjRuy55020VwaDIdo5ewymzmyZsVv/nrSV9qa9uDvtlgsv+g7WX389QDqJQ4CGAU2OoM5/QX3lBxyCcq4KrZeL87PxuZNXxa8fOQLnXrk9zrxyR5x8yUdx4qU74IRLtsfxF22H44hjL5yFL1+w7WKwHdMzOH97fDmLCxTeMRMnv6D4LBinvCnOZzgrZ0B+lk3lyO2XrMGUybY/6x+ArAsy3Ml/IfkmDjt+A3zhnC1x/GUfxU3fPxynXDwDy6zUjEJDO5oalkAOjcjbZBrPDTScCzSc80RI8KyF/xtJBgIOAloa8dhjj+GJJ56AvsWsl/YaGxt5wxNyjAjw7rvv4u9//zteeukll+ftt9+G0bCVkZtteyWq4IUXXsCf//xn6EdV2kvtkHwZ2DJuNYtsLGdm7sXAhx9+GPpetGTImJW8J598Evr83d/+9jeoHpU3sw7DWWHl1zek1da333lbQUi+DG59Ek/xmoVWgvqhMkpXWD/uohcdla52KU71yu0XeMpGAXMan9HSTx/nvLQHDO1EKwLIkMYE/ZOBzGej7jlvlQLO1JEYIGhFbOTGFK98vUHpHp6BvhjQRVhN7zifquE6O7EFPJ1zMAsBPonSRw7mN8/GmjOAi29ZH3f99mRcfPtBOOv6PfHliz6KL1XxPxfMQhafP3cbDArnsdxQMNh603JDqVtlUzmDdSVjkPjiOVvhRNouZ1w2C9/52SH49Inv4yF8DzqG0HlkOq4GM4PGjcAC1Pqv9hK7tTDiEKQo3eVF4ULMb5+PRk6xb7zt8pi10xqYuc3yDhtuuwI22u59WG+LpbH+lstgg62W7Yotl8cGXcD0LTNYJD/TOuJYtkd/NU9Wjvwdeavp/Q2rbBb1LtddfrZu+bunZ8NKd6hyU+V2o+1WxPpbLIcNt1oBy61extyW5xHl30AuHyEM8wiDHPQJqyAo0B8g4MnJDf5vdDCgWVp97WLmzJnYYYcd3E9mz5o1C7/5zW9cA/UVjY033hhrr702lOcjH/mI+yXB1CiVAfrd737X/Ty38my77bZYZ511XJ6nn37azVans776uW79pLc+bbf55ptzBmB9SF5bexu0DlqfuNtyyy2x4YYbYsaMGdhqq60gY1rKLHLfiHJNgj6Jt91223X8YuHChQsRhqG7AVD5L33pS87o1qy3SqT160sh6uv999+vaKjvztPfnXHMJCphaggCDEJ/AXcCnczmvY4BR5I4I1yE33kGBsCAzh8hW6TLk2ol6IZMbh0ho0RQFbF2QD7XiKnTmjCv5Q28M+8tLL96hBlbr4ANOCZuNOv92JjYcJv3YaNtV4LcmVuviBkcK2duQ5f5lHdAYFmVHzQGU2e2zBiufzr7scFmy2DN6U14/4fKKIULEQXtiAwdSI5q/fZB/USzExRe0te2IJUAABAASURBVItnRaBhCtDGWS2huVTC3IUL8N6CeTxJZ+OduZ1Y0LoQPaJ9Lhb0iXeZnkGJ/tLb1bjUZVx71s+w8ri88gvd0tsZ118MRtZgyvTWngHJeo/cVNE2Fwvb5zmUojYsaJmL1lIrSpV25Ip5FBsbgDCHIAwQ5isIcxVwshN6mi/j2ep6FvEk8lu/GWhqasIaa6yBU045Be+99x6ee+459xKfjFDw78Mf/jD3wJ133olyqYzzzz8f3/nOd3Dddde5+EceeQTHHXece4Hwpz/9qVvC8alPfQqa6f3CF77g8rS0tODiiy/Gueeeiy222MLNakvWr3/9a2y66abOkNWyjyWXXBL6pUKlPfroo3jrrbdw0kknORmBTiD6nn32WWfc77LLLnjggQfcbPe0adOQz+eh8ssuu6yL/8c//gHNemtdtGa4ZeTLGNcyj+WXX97NWodhCDPrAlbR5/b6O7NRct+ror6qjtmhK5HjXpjIJ7f6XiAPAh1uZnyCUAZmz56NefPnAIbqn/L2hGpyb44Mlyx6y+fjxy8DixjP9e+qmYFbUhHPv9DgwoE1IK4U0VCcBkOIhbRHFrbOoUtwnJzH2ekFDM9v4dhJdyHjmjV2Vl35B4IFkjMEDKSuZraze/6xXP982inzWpoR8eC1xxGENtqYLdRP+lRyFJQQ5HJuMgbVPwt4oFN/xwlQjRiEI403iGL9LRKh2EDrmeNQOQ9stOWqWG6lSbBcjMnTpiLPtEmTGjBpcqEDTZMKGDhyPZSpxk2mK0yiK8ifhauvmqZ0hbPpA/GrrJORymNfFld+MGV6k9kfWS4P29XNbWzKQygWQxoqAQ0YQ1gIUWjII+RJmAtD5GhEy7AJwhDJWiNqHvi/0cSAZnb1Qp/aVCwWsdxyyzkjWYb0O++802FoasY5zIU47LDD8MEPfrBj+cUxxxwDLZWQIb3zx3eGXgC86KKLcNddd+F3v/sd7v9DMtt72WWXuVnpO+64w+UJKUsz3ldffTX0HWnNFmsJhgxlpcnI1Wyxlo5odlrtE/Qd6bU5G3777bdDv26opScqKyNZ6erPiiuuiDPOOMO1XUa0lpNceeWV0I+2aKmH8oQ8J9VWlek3qP3W33QpfGzP9YEmIOBpTTM6KR7lgAoxAoN70oBRsFff+VgbIA8IOhoUFIDd9tsYW310FdDKgP/zDIxpBoyt11BGyAue1EGQ4xhYJALk8qFDPh+goaFQWzQW0TAUDLU9Q6lbZUe0/kbo3ZyAx6UUtaM4KcIms1bFpGWAkGbnFNqYydPyAPqzwGBm8tYMieSaicsK0nROxFnMFixsa8WkVYEbv30olns/z9J8K+8KVDVPSBpsjXmgAwX6ewJJahRozDV2Rz7H8kSugEaHBrqCwnKJPP1Cjv4uYHz3cMg8g0GXuiljkbDiumO46lc9hDhwIF8pbxm3oZhHghCNPDZ5Gc1BHoVcHvl8kUb0JCIP490drJVuBf6vXwwMSyYZrHpxUOuCZYiqUhm/mhHu+AZzHENLNdKZZK2T1nII5dVMrwxdyQhpFCuf4jXTrJlhzUprbbOWWey5555Qffl8HjJiBdWr/IVCwc0gp8a8DGPNdG+yySbQLLnqlhH/7W9/2y0zWWbpZbDeeuvhhhtugAx/1a02SP5VV13lfsBFBrzC119/vZv11iy7+igjWvGC6u4fqJ/ywE77ASdfMB3l9qRU4BzutTjaGZAuYuLuxAMRgJyQBd1klKjCT7xsPWx/ECNyhN88A4NlgJehdEzMGUTQP1gxgypnLKWvcNBxG89rUxwDhVBjXgi5RY59DQwLUxoaUUtMpryhYKhtGUrdKjui9Rcb0TSpCcWmRpTjdkxZpoQrbj4Iq28ANJdmo1KJOD6FtFdyCKm4zAzpn1mnP40bjJtoxcGU7GeZhrBAQyxgbhpajRFyxQo7Q3XMDuVzOTTkC27A1KCZorFQRK8o5tHImbUuKDSiUVC83G7lU7mp26tslZOMoUAyhoKh1K2yg63b8Zrn8cihUBAKVaM5T8OZyoQGURiGCCwEEBDcB7Fz/W50MZDjdfWTn/wE22yzjbu29JPbt956q5vBnTt3LpZaaim3TEM/eqKZXP1y4GabbQYZv2aG97///e6YaxZYRmlcNbh1/cjo1UuF6rFmt+XOnz8fp512GlZddVW3zllrkmXYaiZbRnOB586sWbOwzz77QAazZCrtBz/4gftEnpZ5SM4555wDtVttVFhGtl4+1Ezz0UcfDaUrXgb0qaee6vonI1vtU/yAEXDEbqI+WgoIi1S6vNF3MjSYG9OMIYHOhN66Xeb5yWRD4A00Aur1qj5grN/GLQPjsWO6xoXqCa5rnaAKhJ6w5sIQuSBwCEK6FqCYL9QUsn+GgqG2Zyh1q+xI1S8brtgguyRHe6UAUAc18sl80PguwsY5mDZVs9NF6BgyEcbZZ7m1RmIJ1VpqVV7ATgUoMqQOhnw6GiAuNyKIizwJ826mM8+7iFyhAUKYLyJf9Ss8KBQLyHVBDvliV+QY7kS3/HWov7OuHNvWHcNVf1pPWn8arrppv4sN5CtBgXfHWmMqgzqgIhHAw8izETKkDQU+ElEED7HfRgUDqTGpl/u0lllfx9Dyjd122w0yrAUt5dBSC71QOGfOHCisY6uZYRnXt912mzO2w1xybM0MmpnWGuaNNtrIvSyoWV+teVanNbt9/PHHQ8Z4+iUO1SPD+qCDDoK+srHKKqu4emSUq4wgQzvP2Wutz975Ezvj8ssvd/XefPPNSoZu2GS0y9BXX7SmW4Z+gQb55z//ebz55ptu5tvMXH4Z9+p/Fi6hj52bZOYNgl48UV1UUtDgCb1YGJQT/7BPjWH0/VVtDMcP2ug0A3k2kwOTwQC9jEXQHHFspS4QKBPRy2aMz4JBv41zBnQuCT11U+cCz6mekmofF/DMDWFmsAAOPIWBkE/oDAjyOVhoKDYVUaCxltdjcqYp3XLMn0GQN+YfOMJCgKFgsPWm5YZSt8qmcgbrSsZg4Orj+BQQMpJzAe3MuIDIGhDTLomjGMV8A0JOJhnPJzND+mfW6U/jBusGgy242HJuZAqoPoWuuUPkGR/xxOVVpM6FOcRBCNANghyMbm8ImR4GAcKgb1gYUE6CgHlZgPIDyJ9N6+4Pg4BZ+4/u5esVHk654ihFGIZwCKouwzqaQZDn8QuRGiuK8xh5BszMNUJLLvbYYw+3TlhLN8yMx8ugGyJlkLG43XbbYd9994Vmd7WMQ8fyiiuucC/7yU1ngmU862XDD3zgA9DLfnqx74gjjnDLLe677z5n9GqN80477eQMWsk3M+iFv6lTp0JpWoahGefrb7heye4zet///vdx+OGHQ8b3wQcfjEsuuQT6WodmoZVJLxGmS0D0JZCtt94a+kTfscceq2T3cqSMabVbETLG5fYPAbOlAAKq3a4PVCI4Qxp0MZH/2H/L9l8zzoxzUeRPet75/c4zMEAGOPwPsEQdsvMcllSd4w6djTIzBCFtgTBEPpdHvlhEjjfvHoVRwUOhkEOhSPCYFHlsCjSYNQEb5AoIgiLC6j/q+BfUUXYiWrpWUMgA4/kZcMYnoOEc8u6OdhkEvaDWH4S8o+gP+iOrpzz9kZ3N05OMsRwXhmFiMKdukISNxwvVv6y/GuWdUcSAvt+sl/VkXJrxomPbZGQKMorNDFqGofSvfOUrkEG8//77OwNbhvHee+/tXtrTFzv0CToZ43/84x/dZ+bSZRv6aofSd955Z7dsQ8tF5A+CwBnpWlqhmW0Z5qweu+66KzQbrZlkfT3jnnvucW3Qy4h6+VBf+vjoRz+Ks846C3/5y1+gmfOQ56DkaWZZMq655hpoOcrnP/d5Bd2Mtpm5L4VoZltLUFxCf3bUQ7SZqY+sChVKFZX8cKazYoQkZoLt3TIW9V7I9j0gOYUE2eje/T7FM9AzAzy1pJcEXY89Zxr+WDPrqNTMEISJIZ2j/eGRw2jhIM/jwgcFEHiP446TWYggSgA+UuDRQ/pn1nlc07ihuMFQCve7rAYrTVwI8kOdCDhwATl1Nghdx3WSLhYcoIP+IAz6LzObtz+ys3myZceBPwxDZGEZw7nfx9tnHDEG9IWLAw44wH0DOqpE7glBtjGrr766S9OXN8yS9c6/+MUv3Jcz9KMnyvuNb3zDGadaZ6wZYc0caznG9ttvr2QnU8sqZFTL0NW3mldaaSXMmjUL+la0PmWn2eBDDjkE+o60ma53QF/a+PSnP437OGutH0HRWmathU6NX80277777jjwwAOhL3ho9lpGuWSpYtW56y67IsyFCkJ1qk2rrbYaojiClqC4hP7uOHhDLw8KFXP6SFFSUxXwqRjnpfsralzm0+yyBewaYXTcRn9UBNpyBCNEFh2/eQYGzIDOKcEV5HklN9ZOqIblHSUwM5h5mI0iDqijTVCb6KJscOg4j1CDv95F1P0sjSrsCce75neAIw/8Jv7zTBvAKEg5s8NmYXWi3egazPoGM6A/MOsmBwwLvcUrjQDTBwIzyp2AQPXPLOl/NeidEWZARqZmh2W8ytCU8anZnXTphn705Fe/+pV7AS9tqtY1az2zflgljdOn6DRb/PWvfx0yYhUf8MZRrpnJcZg+fTq0PON73/ue+za0DHN9jUOQIa61yvILesym9c1f/OIXceONN0LflVbbgjBwxq/SJVTlZEivtdZa+NnPfqaoDqhPaUDfu1a61leHIZUME8yMl28nGNXzZowuA7/5AXDhcX9lgFsgGWXOPEco0YCuEDERUE8xdeJt4kh6OgAqZAUOIUgOrjvln/i/75KSEnhDRddvnoFBM8ATLFtW51w2PIx+M+uiP8x82Gw0c0D9w1kPM8P8d4HD9v0G/vsCVVQboHv/DljSB9T4r9uZW2PpFFepcJSiO+894OEHnwc0e8Gw3zwDnoH6M2CWKA6zrm6tapYB3B1DkW22aDv7Iy+oGvf9yduRh4r3mccX4vc/e9pFVVoTXRUzxCQkIQYm8mZU2a7/fJpBA7rcxun6CvCLHz6JB37zcprocvidZ2BADOhCG1ABn9kz0I2B7DlE/yMPvYj33gKSh5SM6Ja91sGg1gK7yytpBpqRyywDFBvyABUy+OfuDGwQHVT5vkDZA9q6yxpQYZ/ZM+AZEANmBjOTd0xhStMkTGqYgngOELoZaKnEIHlINqZ6Up/G6uskWcm5YgEwYMVlV8bS05aHIwr+zzPgGeiFAR9dTwaoi6SPXBX0NzU2YupUICgCbSU+HnMJ9dtptKifdAPyDQVUmvkIUFPqpcAr3Pqx7SV7BjwDA2EgBvIB0N5WhvHeHgUqLJY3BE4nJyH4vwwDzQsWQFPzpVKFszw0pjNp3usZGDQDiyzbCAYtyhecuAyEUYjSQpqZtDfz+frrp/qdpd1Gn3wZyJebEPDZKDf2kJumobsf65gRAp3spjJCNq5Hv+oVuiUGDAt0+t5Uti/0XXrMp5oZzPp79eX1AAAQAElEQVSPUd9h38C6MmCWnCtpJWZJ2Kxvt3v+NDzsLvVSHBswCShHWqZgNJ9jFDi1KvXLFEzkv06dKV+AxobJQAVoLbegYpzhEUF6klhFkgvkMAEgrS1MZBZ93/tkYBHjOc2tsyn1e9cz0AMDtBWlepSSo14KaTg38rSxHNVU1I5aLi9UHd3BqrpH1T6sDjpE7FVVvMasqtc7ngHPgGdg5BjQAG409QgpRCGMI4Rx7AzBkWvYKKg5xqIcGHh7AUTuM3ejoI3juAm+a54Bz0A/GaCuCqMAObpOQaH+fxor6l9LbzUMwoqOKKsvMHlAW3dZAyrsM3sGPAOOATNzTy5cYIzu9EMqRgWsm/0x2oXaN7s6GBklC6nK7ro2ursWzYZZ0G+eAc+AZ2A4GZCyGob6RsaArirlYejfEKvwxT0DnoHxzoDTtdJJaUc5I21EGvRuNwYcYUBqTKepugFJ/d71DPTKgM4fodcMPsEzMDYYGBkDmtxolqfHa0iRAvMMxyYCshiOOn0dnoHxyoCZuZlos/65o5kH6ajR3L7Ftm2YMshwFgZVnW5cshiUEF9oTDJgY7LVvtFjgQHplGFop2zHOlczTD2pcy+8eM+AZ8AzMFEZ0EAhZG8qnN+r94l6Svh+ewbqysBYEC6dWOd2aj1cnavw4j0DngHPwBAZGAZlOMQW+uKeAc+AZ8AzMFoYGLYxQ+vlhNHScd8Oz4BnoC8GJkZamY+RK0TX3uqmX+gaOyFDHdx05aMSBKjoM6Qd6ROSHd9pz4BnYCQZoP6JM0/BpJPKjHNNikPn1HNXewNanUnBlpfKbShR9zYT+h0VOuhYL6d8zNPTpnxZ9JRHcepAFoqrK3RwsqhrZV64Z8AzUFMGpHNS8DpupX9uextANwAj0sr0iTZQAzFeaWn0xHLZfysD1g6IC8KqY1I7cmgPCowf4ibKsxiiOF98DDCQXlNy1Vx3rcnTHTz/ukf1N+zzTQwGLEZsFVSowuc2A6VcHpUAaF0A5EMqqzrP2gZ1ZZkXSIgQxUbAikDc+Bb0gWv3YdEAyI5X8H+eAc+AZ2A4GaAOerflRVjTf12tlYoMRXr1BQ6BXr/JiBESJkptJfejM++1Po3m6N8YhkmepGK/H38M0D6AoJ4tYkR3nnNK9vAM9MxAcgKFvJeXndkevoEFFaBhKrBgIW/+ey5Us1gOITWT1aOgIMgBrGXSssAfH7sQq3+Y2RjmnlsFcZyAAb+NHwZ8TzwDo58BqqbTLl8Nv7z/y05HmSXKGDKenWXIGYzR34s6tlCKmiSBo5OUOJEv5lFqBX778Gdx3pVrgPMjdazfi/YMeAY8A30xECAIqacMaJoa4+G/X4C1NgOflQGTJ0l39VV26GmseehC+pKQz4eINC5xBrrQxJzsaDLzrEiG/eYZ8Ax4BkaCAeki6tilVgZizoAFuQZ61BAmSD35STDywSFCNxQ0nsWMdHeeenzy0oCRrnRJB/hn4ozu2N98D4aFAZ5aOp+GpS5fyfhkgDrHjPqavSs2xpAKl/Uc6NxiHOqslNJqVFXdEIQUzY7m8nQ5YNFLxaxOK0FNEJjGTWOWQG+Pm3Jm0WMmH+kZ8Ax4BhbHgFSQ8lAhmdO48hBSMIoXGJQzYaH+CxqVBPmFlDsqa6OBLQAkLqqCcRCqxDGbSi+CarJ3JjQDOjsyBPBmNhPyXs9A7wxIF1VTjTPRDbyprwbpRDCzLmBkTTdqu5rK60FYtYfGJEFO1QWTzMx1kNEdm/d4BjwDnoFhYcBYSwp6ISOQesl5/S7DQLehwpiUgl6/eQaGxkCUFNc55XzVsPP7nWegFwa6qSV0nD/K3z1RcbVF/Wtw7S1x3wIErXS5dRugdKmkYKrfPAOeAc/A8DBgrMakkKSjpIWqKlGOHpApnVkGsI2TrOKCXVH/Bd1YgI8PGeUGKcURMbnTi+6CkjrSFGC6HA/PgGfAM1A/BqS/9cJgG6CvBlF3S3sJqPMfq6pjDR0KNA/EjUClOr/eEV/Hur1oz4BnwDPQFwPSu7Kb3YdDaRzGUsIsIP0UUP1KGU/ox8nioB1uUEL1L+VDVBEWiawkrcOIVrAzWiEPz4BnYEwwMNYaKSVeqTa6QBuTepx6Seq7GllXp/YGtBRnCja9HMUoLaSnGZj3Al3VyJmdSsQZabqM6bIpuS90yewDngHPgGdgIAykukkuFW37q0DbKxRAQzA2aR763cZECAwoL52JtYkLGtCOAxrRHZ1nPKNbyBvmgAMWIcs5hbgSGK0t4sy1IL+HZ8Az4BmoHQNURE4/yc2h5V3DG/+kdJqW3KNcriCO4y5QfC1BbVhLcV1lqVttpQh53hjM5yD18VnH4ck/v4G2llaEYYEdq7iXSrqW8iHPwMRlwPd8GBmggrr9+iex83bnOkPQwCdlw1j92KiKJLGhETW1fK2trQDt6U9ufzHOP/lPYDRT/eYZ8Ax4BkaCAZqwUZhUzInofT5xMl77RxIMc0xLvHXb172GQL+cQs07ZVmgeUGISY1Lo9jYAAQh2vQzYHXrmhfsGfAMeAb6YCAGlpz8YeRtJYC2M9UUYKj+BXRzxETexEGBBMh17KBBr7lzvIralsOkhg9ABnREzjrA3MqZgkG/TRwGfE89A8PIgPQSlZH7Zj+rpT6Py0tiUiP93EIqczODWScYXdNNLaipwO7COIOOds5YYCGQD5akwuVIpXWH1LCF/EQfoLqz5cOeAc/AsDFAhVsI8yi3TQP42C/SZ4HSymPpJiFIYyaoq/6LB3U/QsRZHs1AT5u8GloXNCBLmXJ4eAYWy4Axh0DHb56BQTNA/Q3qo5i2pGTItWgKWmlrSi+1lWR4KqV+kHasn3RK1udVC7wj0G+VI2oausIVaVmwDr9VGfCOZ8AzMCAGmqlsQ0wG8kCkdbxGbSwMSMp4zRywYynIi0Ihd9xyNgW5gLzR7zfPgGfAMzAiDNAWlOGsuiOqqKjcgILu92lYB0FVWSmxTpB2rJNoQMJzaR/YUaSfQapbjV6wZ8Az4BkYHAOBDa7cuC0lnS10dJAjlPx14kmiPTwDngHPQL8YoB7SCgdBS8mcIe2eHLK09JZVlzowWK8tqJfgDrn6FJRqYWddnNwsXKTfeQY8A56BEWBAuilYAHe3r+d++vU8YQSaMuqqdDPxMpqFTOuM/lCcNdPjN8+AZ8AzMEIMSBcJafVBO6CwQxlwAdTtT8NHVXgdHXZGL5lUgjLk1rEmL9oz4BnwDPSPAeoll9EZis7XuXNx3QzHztSJ4XM3EukQIVdIu05uNDmScphGe9cz4BnwDAwXA04HVTpqk41Z0aoH6aV0NrojtfaerEasvXRJdEoYaC8ApVyzM6A1u64kcJBSA7Jw8X3tREwWfeX1aZ4Bz8DEYGAwvZQioh2IqNvLcNRLgxE3LstIf7uBSFo600PFxVTq4tC4S5HJkngdwYnX7z0DYoCnix72yLs46KwTFpfPp09EBiLE1NURJ2b1BFGGc1uuHSWdMO4co14fVzPQYYkdnogH2vfZM+AZGNUM6KY8baAzGqWF04gJ7HKA0kQHNEI5kAsj5BdP8np4BgbDgDNyBlNw/JXxPaoBA9RLlbAdFalu+qHzqwZi+xKhqvpKr3EaZyOsBOleJ9grYEeD33kGPAMjxICxXquum0MZTukOg+JlraN/c8YzudF363ps7TAPHz22wUd6BjwDE5MB6R8h03vp8m5RmdSae4etKveGpL4VpS9x+AGq5gfSCxwKA77sxGYgVYO8wRcR0k9Cx52+Ij06GBBNWsLh+emgxHsGwYC7eR1EOV/EM5AyQD0UIFlK5r7GIftSaVLpWlYmfx2hauooHsgFQYf8MGhEMWcwRqmz5YpmNzqSvccz4BnwDAwrA/kQaGxYslqnFFPVSyMx1rspzpCuxk00R08ItT5cAxRICPvf3s5Zej5EbG8LUMjlGaMtQsAZEgfmCzJQqkedGfDiPQMTlAF96jnU90cNqFBFhZgK0NXS5wBtZCUm6rdxxKif8C6SWVN75R0s1C9+UQfLiC4UeOfQJZMPeAY8A56BYWKASnde8wLMXfAC0ApUdFfPOFe79K7gAhN4Jw4iKm832xwhn8tBDxJb2l/Bgrb/QgMV/J9nwDPgGRhhBnQ/H9lczNfXNWlEh6FeIqxvo4L6iq9KLwP5ScBBh2+K968OtJXaUCq3IIo0A82eVrONUcc32zPgGRiLDHD2ecdPTsZRX9icCooGdFnWosDOpIY0vRN2ExVVBFUSWlp4p0H/Z0/YBLvuuyJADhn0m2fAM+AZGHYGIj4ljKSjWHOO9vIhR2+MlT6gAOE2c/t67VK9WC/54JM9aGq90Aicc+memLIE0NhUQGDG+AqN6LpV7QV7BjwDnoHeGaD2W31j4NCT1oWUcDGvJ2K8oQ9i6Fe9J8bsau/0uP6n448bpAI0NBagGei9jl4NMz/OsjSgSRc9fvMMeAY8A8PLQIUWdKwnh6y2QAP6pNN3xJR0RZ5by8GEOm5BHWU70a5vVMJBHog5E611hXFkNKAbkAsaEWTWSMP/eQY8A56B4WJA2o9Pxtx7J9RPJotR1iBhTBMUNVzNGXX1GFuUgl5SAqeucwxwQgSKYLre1UnBlC6bsghdIn3AM+AZ8AzUgIEwCGFmkBGt1WXSSUb9pHAMTk/X2Yiuu25j38A+AlS0HYD/8wx4BjwDI8yAtF/INhDyCgwlW6qvktDE3YsUcdHBgGboCXKmwQqynDvSvMcz4BnwDAwfA+YmO9zjMcjfaWNSRw1DM6Qeh6EaViElLNDrN8+AZ2BcMDB2OyGd2x1utkLfkAB9URXyj91uDrblGn4SkAfqbT40zIhiSpa7TIr3egYGxADPI9pAAyriM3sGEq1MPUQtLb+5G3mG5QqiSF8Rcnf5CtQHw2NA8yKp9rOzF+qk0BnjfZ4Bz4BnYPgYkF7SUz5BflczHwfSjamwBClnBifoFkEcCCKAwxMd7jUw0XFPSN1icUb7zTPQXwZ4Q+ZmCvubv275vOAxz4D7sScpI4HmrO70hTiEWVj37rHG+tURs0/StepH2k937bDWUqkEM4XqV7+X7BnwDHgGemRAqof6yX0qtIU5FHazFTKgrWo+x4wxAhPyT/cUEZkQ5HckyGBupwJf6ELJ/YWUvGOJ8fILabiazTuegb4Y6JhL6zjR4M6gvsr4tInMAHUNu2+8xY/1Yh1CzH+vDGdnGmBMjpD8ufXQcezWSScxtduzmtoJ6y5JnUgraJkLbLfVmXjhGY5W7FmhUEClrKmf7qV8eKIw4PvpGRhRBqiHfvqdd/DZA74BUOkikj6ioqXRKB+T6cOE/otpxsimiVIWLA+OVfjCEd/FN77yXGJAp2ne9QzUggGdcLWQ42VMAAZoYbobdqMuymOrTY/Dv58E5s1Jui7jOfHVZ8/a6yM4ldrWnqje5nnAm68UMXc2B6hyklquVD1J0O89A54Bz8DwMUDVtAJrWAAAEABJREFU9PbLjfjXXxcA3EBjEc5k1pwrUHHh4WvOaKopGRi015pwuZnWNQPPPNaCV55mHDl0Nx/0TrDNd7dGDHTMPtdInhczURiQXhJySYc567Fw9jKocI526hJAuZyscjAzmCVIMtZur9prJ60HScUCFTA7VORdZViaiiWXbII+M8KZd+TCQg8lfJRnwDPgGRgGBmj8BZVJmFJcGbSWQS0LGdDGfUDjWQAUwoT8S3ouFgSSxZuLSqkNaACaguXRlFsB0uMTkhzf6f4xwHE/yZicP4mfez1rp5NsPL80i6i8DjJLhCTV7z0DvTPA80TnjjLw3Ilbp2BSqAAQhJZ46rhn7XWUTtEValgtUSnSPzkMEfAugVGgLob7MDTjB7X5Qp4Bz4BnYIgM6Ba+UioD9ET6UD2VU0CERJ4Ihih/rBfXEGRU1kIglzocJdrQ+QKsLKOIapw3GXEVdOCA5C/ijYiQhPx+QjEQs7eCO02043XGc4ix3OSnw/RABlCcg0uSfaCsimOy3zwDfTLA8yd9gpGjv5HnUYEuWoGcBSyqk4lOnTbVUCfRqdiIKhQIY4GdsTTeu54Bz4BnYAQZoE7q+IRWRi9JKYYczWU0gkZ0PVo4VmSKixQdbc5w1RHnPZ6BPhnQWaQM3V3GOWO5Gp+eW7w24eKZ7jfPQD8ZCGliConaTk+mfhYeRLbqWTuIkkMt4vrG3g5Vji/vGfAMeAaGygD1kb5+BHe7n+6HKnRsl9fgYOyCQMdtjqNsBGNdHF2/eQa6MKDzJIW7rgrJ/agzjjnjrMzyy+UNq3ty0ZGfkR1p9PttNDEwhtqiE6p+zZWOrJ90L9kz4BnwDIw5BrxazB6ywBk/4oTws4JZarx/cQzIfhF6ylc1kPWkx6r+xIiuTqz1Vq4nWT7OM0AGYn2uTqePO5/cjrH126gR6ye8J8nukWn9+9VT1T7OMzA+GPC9qD0D1EmJbqJHSpjPAGMimTKrfXVjVaIbMEhR9/ZrFtqBCRq/Uih/X2B2v41rBtIzQW4ZkKVsZSzQZ7l0HlWAtrYWlNoWAkzW+npEPGMiBpwBrXLwf56BxTKgU8sZ0DqvBKe/F1tsSBl4pg6pvC/sGfAMeAY8A+OeARkywrjvqO9gXRhIzp229gUAcpg8aWpSSwFoLC6BhsLSYDT08pdDLoeo3M48AeE3z0D/GEgNaM6BIBofBjQvAHc3kBCgWQr3mCYJ+r1nwDPgGRhZBjqWJVBXuZZosE/9LsLvPAOegUEwoCupEwGKhSkoc7K5bTZQ0Y9dtAL56P3ESs54Xvg20PJeUlHLwozhkET5vWegVwb0I6m9JtYpIaiT3C5iZTRXWFPFqtFyCTPuqlHeGS4GfD2eAc+AY4DqpxQC5YBDPP1m3LkEv+uZgQCxlDkTy9Tngp8MIRl+65MBmcFxuo6+Arz2EvCJba7HEXs+gi/t9wr+9fi7eOnZVhx34Bs4YM//xe23vOKM6Vyu2Kdcn+gZ6M6AbEzppcglUEnVWUGpBldVvXZtrSXo2rEGoD3HbuVZk1UR1L16VuQ3z4BnwDPQjQGN6tRDJeqlShP1EMNmjDBa1ITx8Z/VWfl2a9EYCRpAu6bSmEN7XqSB6l1uAjLJsOISgA9SE9Soe17MmGGAoz2vouToRzwrYrZcj9ZXXQ1YNl4NLS82ovTONEzGqshV3odXX2zGnPcW4CMbrex+IiKKOT3NMn7zDPTKgAHpzLMM50rR0MITL5zMJxktbb0Wq1WC9F2tZPUop6GhgLAIvLuABnQ4G5UKs8XsNK+kSqQAw37zDHgGPAPDzQC137sL38Lctteg9ZelChUTB3o1gzqYTrKnZwJvEU1g8RBQaQeI4gpizom89s6/yNur6Fj9MoEZ8l3vPwOWY15eZvvu8Um0vleCtTahGE9FHksjas9jrXXWwKZbAJpwK9AYgv/zDPTJAHWTEcpDY3pB5Q2UQ6BM23lSY6Ni6wpqxQHJH3DmmH1rbwemLQt8eN0iJi3JqycAjJ3O53Q1MQP8n2fAM+AZGGYGqIfWnTkF2+ywMkClmw+t2gDppap3QjvSzYJIIFmkJwxCGtTAznusjY23XAbJ/Yby9AaV9ZiIDPCMgbHjQXKS0AdU2jlpRuNmrfWBwuR2tJfbITMgz0uuXG7BMsvHsKmA5tbCvB5X67xyRf3OM9CNAZ0bQtnFxyGwzozJKE4BAp5Pbj7EpdRvp3O8ftJjXjDsW4E3Ag1LAff+5Awsu7yxPnW6Qleg4zfPgGfAM1B3BrpVQO23/c6NuOaru6OttVuaDy7KAPW5VrnoieI5F+6AfQ5cAc5Cgv/zDPTMQEDjOWQSL7XkVDE+0WBg3Z2BNdZbGuWoGTlmCAn5d9plQ+aGM4Ba2xY4v995BvpkgOcU9P3DsAV33n0q3r8aQyWWoL7ivq4bT+W6ykdBN5FpR+R3NSrCWDGvGu795hnwDHgGhp0BqqDiJNZKt1Cky7lV3doLAQd+p6oUPWGRsKC9OOmggYEcJ0XCBsY4ktyOgZ42pfUBDQVZ9CTCx41NBnRcea7wskIoP3uhYLAEPTRwPrT+NMxvfhclTrLNfncuyuV3scnmTOP1WKlUaDvoBGPYbwkDft+NgQBxbDALGV/B1GkFFJoAywN6ouHsaoB54g4wWNMtqKm07sKMESno5Xw097qSVG0WjPabZ8Az4BkYTgakm1I1ZKleShugBD4HpCGdxkxMVzx09lyUuR/D0JglON46073PM9CFgYghXVqCvDE97fRMBvY6cDna1vNR5M1YrtCKLbdZH01LM40nWRCECIICAwHhN89Abwzw/HAvYtA13onpi0r0utw8j7SE2PnrtEurqpP47mKdxmUke6ZFh5DLoN88A6OfAd/C8cwAZzK6dk+qUegaO+FCtHcgqOMd6rrDo9gqxJVQDXrHM5CeNzKiyYZ+6bNQoFHMjZYzll4PmLZ0AS2tLXj9rX9ih52WYy5uNBNMp1JanlF+8wz0yID0thY/u4kOnjQypnXepCqqzjf4rLHHZtU2Uh3qUWKvCT3m9pGeAc+AZ6BmDEj96DUMYhE9qzShZpWNQUG99V8GESd74HhLR6ox2L8J1eQR6Gx6aqQum6BThw7Ax+zgTPTO+2yA5978Kz44Yxo22IIp/qEPSfDbwBngXVfMk0cnmPQWYbpjG7igAZUIBpR7oJnZCVdEnaKylcJVOIrKnNRoI9oR67NIeqyjBA/PgGfAMzAcDGhQl15KQf2raqUQBfdwTHkU6dHJgHS6uJrHKBFF/iK32JAeTitGnAnKgrn63sRxFn3n9qljiQEdV50rgs4VhuW4LtDWwWRgnW2B2cXnsdJGOUxeA7QJgEopQploL5XR3t7eI0qlEoRKuQIhiiLUArG3RdzhGSs7vdScHrJ5c1tR4k2ZvsAR6JzT7HSdOxLUVT4vGHXI1cGabrrmQbz93wrKnL0whByjijAzB4zzP989z4BnYJQxQJvvmfsr+NntTwMLR1nbRkNzbNFGtLWRNHL14M/fxQv3M51B7v02ChmQMSijUgZmb5ARWlfQwC0JpQpKDonhWyrTjYF1NweW/kAZK69Hi7qRJDYAQS5wyNHN5XLoCWEYQrDAILBkTTZxlqImAr2Q+jPA8wgw3nk14rvfeBwL3gEULMnQRH3/gvqKp3SroMK7gvdeAC6/4Md47+0QOcvxrpEXDJPBGQvn+J1nwDPgGRhOBvhU7P9++h4uP+//wPt59+tnw1n9mKjL2EoDd8kWmCKA8075KW6+6jEOWkm8348+BswMZoYgpEHaC2SE1hdGQzeLkOEqaAIENJrX3KAR2398PcC45QnFh0AQBP2GmcGsNkgNaLnI/HUPZ5K8dyQYkOGcQvVzYvaqi3+Bl58FSs1APm+KrSuCukqncN1Fhrog2Jem4gp8zAIEDLe1RrwjVe+ZyW+eAc+AZ2C4GaD6mdKwDCYXPwAUWDm1oSZUBYDaWIs03UNlpk3ITUxw9sPxID+QLxrAbdml1sb7V9gQSKLh/0YnA++++y5GLWbPxzw+zTjgkK0xaWorXn/jLbz79pt479232eb3Mujah3feeQfC22+/jbfeegtvvvlmhyv/ULBgwQLaJSWY8STnIc0azfJ3B7P4bbQwQH1u0ZJYWp9JlL96DIH6NTCon+hEsmkdCmtRX8zmokEDFZMaGwJN+tDnN8/AxGGgra2tS2f1iHUo6O3R7HiMT3lS3+TvQuQgA7qZt5DHpBUw6qlOezk1HDlNjYn6J+uYxDgDOnC2cqSf92J0JVqIMoHEzpioBI26fqfLMWREPv744/jPf/7TJ1566SWMBF5++UW8/OqzeP7Ff6Jhyhy89saTeOPN/+CVV16AS1P6yy/TL7xadeV/mXlecXj11VchvPbaaxBef/11DBXPPPMMHnvsMTzxxBP497//jTlz5jiDWgc6jmiVyeMxOhio6h7LuLlcMypU2Xk+yUBEhS77s46tZQ11lJ6K1nmnTuo7fYpTWK5RE8v18AxMEAaKxWKXng7kMWVPecNciNGOWrUv7b8FUiZdaBxcQGIcNNuciNALKQ7OkqYmTqL9fhEGxJnX34vQMsIReVoO5XIZb7zxBpZYYglsvPHGfWKjjTbCyGE6NtzoQw4zZ66LDWdOx4wNN8L0mRth5syZxPQMFF4UG264IWoJcbH55pvjQx/6EBYuXIjm5uaOIxrFEdIZ6DSyeziN9+4wMSD9na0qa2MOg3oKsnXX1S+jOa5OP6cV6Zt9qd+7noEJwoAeE2qmRDM/zz//PIaC5557DhMJemybGtK1moXOnnZGjagZDYNudBqZFBATdVPfpbNzGQIyI5afAMnwMjq8uia0vEHu6quvDjMblUDHu08lEieU3S2rzARGcOuf9ZMasLVyzcwZyboREX/vvPOOC7NBHa78HqOEAekgIW1ORH3Vv1MnLTEkVxpySAL6VVhXhQMHJbkq5FyTz8MzMK4ZkHJPO6jHgoIesWqGQ7NFHmX0l4NXXnkFf/vb39yjWrNksBO/3ZHy3afrdBBz6EY+9TOYbDQa3Q3/8KjIpM7RtlffOSCBXLgFHNX2iStxo++uVqO8M7IMpOe/bi5bWlqgJ11azpHGjza3ky2dY0IehtAB3CfQiYY+/8wMZrWBONLyMOki/eDL1KlT3fIN8akbEqHPxvjE4WfA6W6dP9WqpZeq3uFwMjXXqDqd81mkYnVXEDWkocTN5kv9SYrfewYSBsb4Xko3qujkBzTzrEeryy67LB9NznSPCddaay0MBWuvvTYmEvS4VsaBbj70jVgNekL300RxQvf4RcJO78hI7JaiQ6a0btETLqgBys0WipBq78VL1AQI8lej5WildBaK6wLlz6JLog/0lwGd21lky0nnyJDWLKpZbYxLs9rKSdor80PXnuyCPKN0o6Y4oz8FvcO0iTN9sUSfzVOV4lc3IYLWPyssN02Ta2bOgJffYxgYyOqOrL9adUB91XseUaQAABAASURBVDEhzVOJUyww5aum19phFbUW2YM8dUBwirhbuovvFueDnoFxwkCqcNWd1tZWNDU1QWsTFdYAJ9djYAwsv/zymD17NsSn+HWIY/eI1Q1y9PdbovSPZlLlZgtZNjDR/UGVABrRHTwpzpNUJaZXZ7gSBnzeD1fD+qxH55CMZkF+oc8CI5aYrn8esQb4ihdlQLpIWDQFcKqpgnr/Dc8Zq8446MWTbl1SfLcoH/QMjBcGKlEFFhg0K6RZU82eNjZqbe146eHw92PatGnOeNbMUG1q71SD8gVajalpCwVqU8EYl0LD2fWAhKT62toB09pVLOZPZTPQ9FAWiyntk/vPgG4k+5/b5/QMjHEGpItSpF3RS4SK6wgzYAazBGl0rVxqxFqJ6k0ObxGMaQ7dDGjFMal+m5fsGRhZBjQzpEeDGtz0RrfCZgZ9zk7r7Ua2dWOvdrdsI4rdGs8wDIfeAekgKd0ukmTwlRkjA5H6i74Ju8nYdZ3PDBXiLGgFnBEN/zcKGJB+SWdJpWNSjIKmjekmpDzK1SSI45j6R3wrbkx3bjw0Xroo2w/pcsVJXUl3Cdn0GvtVTY1F9iCOT2jc5/iocNs4cRFpXGInA8b3kNtHeQbGDQMynrXUQLPQZuZ+hUuGs15Sgf8bMANa9hKEgVuuoRloDWiCG9DSgU1u3HVJhwY7oUuF0kHUgBa2QKvL2lor7lW5SDPQqDCrQGekthGvVzcSKRxFCLRUle0Kcq1oL88BDH3/xSS4T7C47lFSMOi3xTNgZjBLoPPaXQM85xdf0ufoiwGzhFOzxO0rr08bBQzIQBaqTbGghBbe2ztFbtQ91fh6OXWvIY45CJWBBj61DsMycjkgKABGFwYg03n4P8/AOGMgWMxFrMEvi3HW/Zp3x0xKIxGb5S2KoyRygPsGvQsXL4AUbrEhlB1NCVJOAV2Bjt+6MkBjt1SZjylTq9Z011QfGgEGstdC1j8CTRlXVYpLN/Mc8baaNyguTF2T6huFx1WHa9iZuotytqP0vsDaODTEcQmTpwAV2pyxm6llfB23uo8QUVRxg9Ps2UBr2wK0t5dQaWNUmVPR4MxPHTvnRXsGRpoBKVop2bg6KzrS7RkP9ZtRU/bQEXHdQ3TvURTz4ivPYGHbf1GmTirr8RiNw6QA7/Ld59uYKYmYoHsNTkIyVFTaqc85OM2f/w7eevvVCcrJ6Oy29MzobJlvlWegXgxQGWnZRlX8gua5mDMP0LxVa6vsS+pvbqjTX6IV6yRcs8thngMRJ3RWXB24/RsXYfU18qAt4TqIZAoa/s8z4BmoNQPjX54MhiwG3GNqv2O+vCauu+005CYDuSJ1VYcQGY0dgQnsSXlI3LAQAlOBr9z6BXzuhA1RnbKfwPz4ro93BlIdM977Oeb7FwC3fv0crP4hqiXanPlcse5dYpU1rsMozyFRuJxMh7OTOTZt8/EGNFD55hsYFbCHboaHUz6aindl4P88A2OagVTZpm73zgRBwJtHgxkRWPdkH+4nA+K3e1bFDWgWmipoyhrA9B0pKV2NwEMSgLMa0E/4CpxxZfJE26S9IyR7kI/A+ass0IZebwdghRkMk7cQVv0JDJLnLOoA6HDp9ZtnYKAMjKL8WsIh3TKKmjRxm2Lsegp6ERvMjL4Kpi4VY9tdJiO/BINUQbmwiR6l0anTxmrqJDkrVlPsIQelHBVyQMhgdunDU72ryu88A56BccVAOrBpcBMG3DmpnzxLCR16lvqpw1hUBqZP2E3958yHm+gQCeKGbhqtJPkZ5TfPwHhlQLpFuma89m/s9ovKJ+YsiABNxLYDYRtRgoLD0S+2oF7VZESrgxE7WmFcROitbDdIVRWym62oVzu83EEw4IvUiAEpX0Ezo3JrJHbCizGzRTgYML/UuU7RZl3OtiaCNXshhElwQu6pq6W3Y1nKIoCTIHKktlPOFPbwDHgGPAMjwUBM/exA+zIuApHAGREND0Kd20QNWc8aJJ6Qsk2VrqpzM9CKEBTh4RnwDHgGBsaAZoUEGc7CwEr3lpv6yiXRld5y/gm+czyQj3SiQ95RTYlv3GhhoHbX5cj1SH0QRq4FvuY+GZChLB2VheLc7EifJYecWHdV2LywHa1tNJR5g+D0r6tR6wo5ze5me5g25G54AZ6BicFAd0WuH2R5+OGH8cADD0DuaMBLL71U94NhZu5b0JWKdAmcX5Xqs4HW37XlUrKawKAKku6Fwk5JSVkBkQtL6sRFJwdS3ELCRUTOEr6SsN97BnpiwMyg7+CnaXPmzME999zjgj/96U8hXaGb4G9+85tob2/HQw89hF/+8pcuXTuVlc6TnlPYwzPQhQGpJOlpudTlWm1WquqmCpVXTL9D9ROEXcrWIKBqayCmq4hsqGlSAxoKAdrmAa91jKsaoNRrIZvb+z0DnoG+GDDrvGbuuOMONDY2Yscdd8R2222HzTfffMSx7bbbYvXVV8f666+PF154oa+uDDlNA6swaEFUrm1zgDdfBYyasFJpB7S8TID/68KA7jCqvERl4HXq8rb5zEEOufebZ6BXBvTi9Pz586FfYr3ggguw3377uV9i3WOPPXDooYdC6ccccwzmzZuHk046Ceeee667IZZhrV8bNTMUi3w032sNPmHCMlAdDuNKhIjq+9l/NgOam6VeCmVm1pmYoM7yO8S3zAb2+NileO7vESpt6nUTSm3UxG7GpyOb93gGPAN9MKBf31Oyfs1QA438a621Fu666y58+9vfHnF87Wtfw3LLLYd//vOf2GWXXdS8usBMOmSIoql+vvfVCJ/a+060LwDCsABYBP/XNwMaNE783E9x+Tn/AZIHAH0X8KkjwACPUvWGZwQq71JloVDAP/7xD7z55pt4++23ncH8t7/9DYqXYX3XnXdBek0zzzKiX3zxRdx///3uiVo+n3cz0zKmuwj1Ac9AlYGYj8PaWitongscccANeOHJJEGfS3Y+i51Tjx2vsnqITWXyrkDLNKhkKws5udO8BMptAULeTOpHYvLFKcxY5yawBr95BsYLA+mM6//+6n/x8ssvY+2118ajjz6KffbZBwcffPCowB//+EdH9+uvv+7c+u441YAMjMrGhcu8NY/1KfoEMZDq0Qr9nLBATAO65d0A77ycQ8E4cdHaRiWV6qOI5SUXff/FTK41KHJI21Dbw8rFgqBlGnrvG3pvRWCaZnjeeiGP5renwhnQMtQ6wAzZ+hn02zAxkB4DnrnDVGO/qjn++OPdE7KNNtoIf/3rXzF9+nQcfvjh+OAHP+jKn3PuOZg5cyauuOIKNzM9bdo0fP7zn8eWW26JVVZZBeUyr+XAnY0uv3YxH8nL9ejOwMQL61wolypoawVa3m3Ekg3kgLq9rV2KiP46bl3PyppXFMDdBXAcWqIIWGszJtHV+BaEHKvYSfg/z4BnoN8MmJnL29ZGY4++JZZYAunsjJm59YYRrUMzw4IFnFZlHikYM4NZ/aG6Jk+ezNncsKN+NqH2mzPmqFhSV0ol9euzmQGf55lgYMcBrYsm9MOoMqCZAtKEBopYOkeNWwHyBT7z69C5Uk7K1RFBhYXhB6vUxmaqh/J2hZpXL7DGAOKgmXZyK0PihNWTq8l8PrqkPuhPPxOwCLJtUqKOTa+gTBPSXnp3UUJ750Q3hgGNZ3MAgihHBFA8YoMD6R2uTbPJaV0f+9jHcPXVV+PWW2/FG2+8gSeffNIZ0f/617/crPTjjz+Op59+2sU98cQTzq+wnmDp/YbXXnsNkyZNwltvveVE6smb84zQTvotW7WZZYPeP9wMOD0TYvISDSjSpgzbSyi3sBGMLxZjWACqf+sAavxH8TWW2F0cL2rEQMjrP8epduue7sOegXHEwEh3RWuijYai2jFlyhSnOPQijsLjG1lVRmWDiGqH1p2i5wMVPt5jFDSRFVAfaaI6oD0Y0h/qKZkjh+VSBSW9BRV2CclOad2RpNRnr7ooma3iPtmyfhdTzeP8tdqRE5JXlZbUGJG8mKA1BtESUpeLu8581ezdHffdf0VKTk/IpsnvUSsGZDvXSlZ/5ehmXoav8l922WX4zW9+44zjAw880C3ZUHwKGaNZpPFZV7KWXHJJrLHGGm6iIMyFGGkjGv5v9DAglZK2xoAwjqCfG0n0khKFNEPt3W4jRO0rcBLN7f3OM+AZqDMDGsD23WdfLLXUUvj+97/vamtoaHBrDJXmIsbwLlWHMa24yAKadLkqqn7qmiQ+oA7ljDIn6vWZ0JCzE1p6IFuZsW7mWbadFGDsZkZJCt3Ilafffbu+QI82GuKcg6UZzkA3v6zwWkMz6ETExgox3SwUlwWYtwtq1R72NkIDeRQC8lxmDEHSYpJXIXgYAHHbHcwTMT1iiYglO90kpD2TuCUpYJ5FwMEQHn1zRN50/uq8jQ08VoD8jnudz7xbjAgK6c825DxmhnwuWbesGeell14a6623HkI+ck71j4xm+eUKi6v05JNPdk+z9LKh8sqIluvhGeiVAV4LvabVMIFqrobSvCjPgGdgRBnQIDNtiWloaWnBAQccgHXXXRevvvoq9DKO0tLG9WfgSvOOJjdVWHo8Lbsg4ExxB6ICgkoDglIDwrbJCFoaABrQ814Ffn5nK046+od48cnWxA6WFR2CM/QCp1ylcI0RqP4xKvEpIfGNlr2aJqTtSU3QNFx7V6wHNM4CqK5Evm4k6OuFniSfyjGPs7JTV3EJOvMkYbh8GT9vkOBB4jKcdHDEaLclaTKeI2cwM1I3VHRGYtPysU032xS6ab/mmmugr2eYGWT0ai1zajijn3+abdZytaamJjcpkMvl8NRTT7nSincev/MMjBADuvrqX3VW29e/trFbg2+5Z6AGDOhLGN/97nehl3G01nDVVVfF0Ucf7dZHS7wGJRnQPUHpoxLSISnYwJD+hjCHouVQbm1DY2MR+bIh5ARp/C7w3vPALWctwAWHvIlP7/hnXHX8o3jpiclYYlIDKlGEuQvmQt8MfW9+KxoaGxA1A83z29He2or2lna0tUUotQgVlFrp9oI25qkHWim3nWhlvW2EvqUvyJ9CacqTQmVq2ZbWljJa21rR2t6MthI5KZUxb/5CTnECYVhAY6HoblDiNh6MdsAtl666suESBNByGehNRFnMXRCgzLAHBsGDuMth3txWLFzQhlJbO6JyO5oXzEFr80JMbpwE41R0CINgvOPsCajD34UXXohHHnnEfYVHRnPoHv8A0jeqzsxg1j/oF1z1fWjJefDBB/HDH/7QvTgtOTLO5Q4n0j7oe/PDWa+va4AMUCUNsMSgsgeDKuULeQY8A6OWATPDHnvs4Wae9ak7DTTpN6NvuOEGaDZIs9FmNmr70FvD9MmiCo2FOIpRDKeiGDRgSsNUYD7w+t+An9zSjCN3/RWO3u0h/L/bn8LfH2zGssWP4APLbQ1rXoUGNBCWAjRhGkd04IPva0ChtCQ0m93E2Abw3woocqYvL1iIfB83WaLlAAAQAElEQVT/RShv7dHANghNlC9MoivIn4XyZFHL9pAZNMUNmERepmAqhCWKSwC895gUL41l9UZ4BbCSAe2AA2f8NetvLYyn34TWgE8DiNYcgi4IkGvzGDQHfJgyNdeEKWEjJodNmJyfjKmNS2D5aR9GrE/FlmlFcMMw/km36EsbWvv87LPPLlKzGc+VRWJ7j9CMs5m5T9n99re/xX333Qe9WCiDulLmydd7UZ/iGag7A8NgQA9DFXWnyVfgGRhbDMjA1NcwTjvtNDfo6NGpevDFL34RrZxllV8zO3LHBDTuEnpUXapUYLkAC2bn8Jd7ga99cQFO3PEZfHn3h/D9y/+L/FsfwZSFa+NDy2+MZZdeGTHzzm9egBWXWQM/uBm48fT5uPUc4FtnA3/5JdC0cFXcdSFw7bHzcP2Xyrj+i8zzJeAmhwpu+nKpV9z45XbUA9dTrnAtXeEauoL8WShPFrVui/i4hpxc9cUIV32pHdd8+R386Eag8saSePQXEW47hTP9JwI3nwDcdDxwI3H9sRG5LOHaLxFfbsO1xNXHtuDqLy+Ka7/IdA8MhIfreByE649rx7XHt+P6E0u44fgIN520ABd/5jE8ef98LBksj7CBY+8wG9DSJQsWLHBrluUfKsyMT5canRgt2RBcwO88A7VlYFDSeIUNqtzACnHgq4RAmc9XNQAOrLDP7RnwDAyUAc0E6XNS+raqfqFQxrRmou/83p3QSz6SZ8YLU54xhCAIUGxsQK5QwOv/fQ33/vAn0MzUCy+8gva2EOX2PGLOmU5bYkmU2o3hELSfXQ+bmvL4y19ecl8GuO++B/D73z6Hf//7NZRKzfQ/hofu/wP+8Ic/4P4H/oD7HngQv/8j3Qfvo39xYD5XprublPvDH+6j3EVx3wNJ+n09lE3acR8eYB7hD3QF+bO4X/EZ+Z0yU9n3se6kX5KZRU95u8b9wXHx4P0P4sH7H8JD9z2ER//4F/zsxw+7GcE5897Dg396kvgT/vjwn/DQn/+E3//h97j/wftx/x8fJFiej93vJx4gnyn+SH+KNC7r/vEPD8KDHPC8+GMGDzz4Bwh/eOB+CPqxkfvu/x1+f9/v3E3y7393P6+F32Pu3LmYumTenfPDvdOssH5d8Mtf/jLWXHPNXqs3s17TsglaMqEvcSju05/+NI466iistNJKyOfz7kma4j08AykDerG5LKuW9ib4BDFBmlp7V1XVXmpGYqSPrjbQeC4CzcE86Glf2i/LZTJ6r2dgHDBgZn32wsxgZi6PWeK6QI13d999N1ZbbTWcddZZ7kWez3zmM5gzZw4OOPAAVKKK+xSUBqHu1WrAyqJ7et3CixOsmTSB+QwyjNuxyhpTcMk9u+F7/9gdF3xzB+zxP6tguZnv4Q38FS8ufBavzXkFzc0VlBYCFhXw9pxXcflXV8WP/r4X7v7z1vj6rz6E3Y5cCcXlX8dXH9gQ339kV9z96Edxz1+2wff+uhW+R/fOP2+Pux7ZEd9/dEf84K/EX7ri7r9+DHf/dYdO/IX+DjDtLx/D95mnJ9zNtATZMp3+ex79GFL8kH7hHpbpjqQNrIv1JPLoZ77U/322pyek6V3cx1i2AzuQC/Lx6Cz88JGtcM/Ds/DdBz6O23+zGaau0YIdDloa33xgXXznT5t34J7HtoPww79uhx8+tn0GO9Kf4B7y6PDYjrjn8e0XwQ+e2B6jBmzfD/pCPdv6+I74QYonxFU3MO7//e3j+OETO7njdPfDu+C3T5+AGdsvjef++x+gAvBSARARw7Ppxn2PPfbA8ssvj5/97GcwM+imVzpFrp56afkF+GfGK7kKBnvcVK6t+s17vcuhH2PRd6KVWbLkengGxEAlAOZVFiJsYoh+7t26e51DKRRXS1SrqaXIrrIKeUN7C5zhHIUV9/i40so8urirAyJDfvMMeAZqwIBmnXfbbTfst99+7mdzd9llF8hwvvLKK6E341WFmbnZGw1wYRiiOzTQFYtF91O6GKV/AXVHFLZi3rw30BrNxzo7AUecvCKu//503HL3Fjjg8x/Gcmtrse6zeHvBM5jb/B/MbXkJ89ppV7BsiTMU0STe1FsLXp//NCPZ0WKEuNiGUlMrypPbiRIqUyp0aYRPqqC9kWiK0d4FYDhBmYq7TJkpKgxXJsVIUKErpOGqyzxp/u5ul/JNLNsLyozvAOsrV+HqpfwK29QjXFqMNL9z1ccqynQlI2Y+6Cm6IFtsMjC77SW8OPt1gGlRBmBdHWB8RzmVTaF4QWG5GWRljYRf/RkKat/mCFET0VhG5CB/FQ0R5pcXYE77PLzb/h7eaX+X5y9QKsxGKdeOWBeJ6YDx3B6mTTPQWgNdqVRw2GGHua8BtbfzomP9umHPhTloXTODXTYz6xJOA2bm8ksnvfP2O9DPgeub0ErXT4HLHQ3wbRgdDOQa85jbzFtGnvYBej6natnSoJbCepLV3NrOCwAol8A70SJ4VSfZOIgN441xUqffewbGOQMapDTYrLzyyvj1r3+Nn/70p9CSDRnWadeVR/733ntPztiAsZkCHW36ZJeWg+WLjWjhHfrCec0wPukCjbuVpwMHfh74+q/Xww0/WAdHnbo61t8qh3ebn0VQADgmo71dd/DAgtJ8lAIqJxpzUbkVFsYIqRWLyPE/gHEaL0CZD816Q4VpCcC8hphlhAorUnyZ6b0DVmH+LFRWqPSvPNtmvQCMD9imvqA82fIKB65cGaCCjokoYFtCcsQJEIhjpjS3zMacuW+BjYf/GzkGmiZNwqSmSWia1ETo7iVtS5R6htUNcyHWX3996Kb8rrvugnSNDF0tswqCAPlC3s1Mg3/SSenMoFxGLbKZGaZOnep+RGWZZZdxM9vPPPMMVDY1zBcp5CMmFAOZYYE2ZoASVVeQ5+RIG2du68xEUGf5yPGiUWcmLQEc87k98YEPFqCXZ6OYNWd7zqDfPAODY8CXyjLwox/9CM8//zxmzZrlBpogDKDPLqWPQtO8hxxyCDRT1B1RFEF5N9tsszTrqHU1QDdNaUKhMUacb0Vb1Aw0xGjNzQemAEtsAHz8MwVcducHcccPjsDkpQHpo3wBCBuAzXZYDiefdzhATRhMagRHfnrN9Vd7Rjt/f3bKn80XSMdlI3rw95Wnr7RUVF/t6yutt/Jd+yAjLOItAaGZzIBh3mCAg9PxZ+2Pg46cAW9AYxj/ej6iZoaAwCj4a21thT6dKYN4//33R7lcdrrkpJNOct+k32effaAnZJqpVp7+NFnGuJnh3XffxezZs90Ps+i6LxR4EfdHgM8zvhlIlRbdI475BJZbCaiU4ZYu1rvjPV+RNay1kM+xN0CeM0PHnjoTjVPZMY5TAaO98q0h0V6UZyDDQDq4aKAxM4S5cBGFYmYw6xsYjX8GzosGBKAvcpSoLUtRO0qcOQ0bA1TQjoZJHFwjzZyyA/SCWIUz03JjGrb5HDUsDcEZOwAf+xQtbT4cg4xDWYfMFFO6URIQ8D+sIl91ew4bQv5rL4TklojzUMgoN0FYDdNVmqlMFkluxRjTTHmc1FQOy7lwp6u8CfJMSXzam6szRCqxZ3fRMgGlCEn+CstXyEYIsD3Iizxgp0OaMH17gNP05IRunbaAcvsCk/vc+iqrtD4L1yBRdfQFV0Ufu86ygeNZ+yz6KJokxZQgJKFF9zycvENCBxbNMaAYLRPTj57oSxxaB60XGrUc7Etf+hL++c9/4u6778bBBx8MC8wZ1zKiZWQLmlGWAW5mMEugyn/5y18ma1k567bEEkskfl7EKqt0jwnMQMi+8xTnHlOXAY49dQaWXAEwgA/3QsSROaBOf9Wq6yRdYnWBqjfqaC6C0wKmBA/PgGfAMzBwBqhFoOUbkQU07HL0J25Eay6igokpsiJwxjSW3skzIAOZRrQLMwiWjLEQcb5EVBCHBNWu3nmuxFJQnYhpUCagMmaeOEUMcBzvgCZp44hxGYB5QCXeI5jWPX/3cJ/lKTdmW3sF2+HKs57eXFdfRobJX+0fe8JiMW8jOgGGgDYgT+RKYFb4P89AlgEZwvrqzwknnOCiteZ55513du8/vfXWW/jOd76DIAggQ1uu0nWjrydhjY2Nbt20lmholnrTTTfF/fffD309SC8/O4F+5xnIMmBScBGM+j4oAnqyGOTAcwwwS4A6/QV1ktuz2L7uhHsuMRyxvg7PgGdglDMQsX0CHbdFFtC4y9EuJeICoriISDPH8qPqp0GtN7PLNKKjFFSotDtdXuWPaHBLVkQjOQITnXTuaGkHUR4BCwYs0CNiIMiApSBdnoXi4OQasIibiaGcbLnUD/ensvJIXXeFUad2AqzfOgH+US76gDGLxdZRhkH2KVsH7zrIo+I1K8+sALlH+qe7htTfk2uM7AtMHtVbX21X2qhuPBunNgr09rgpLYseM/UvUku/ZPQ6Y7hcwQorrOCWb+jLGfqChmahr732Whx//PHYfffd3Sfp9F16fZpO7v/8z/+4Fw+PPfZYHHnkkVh2uWWhFxJ///vfu68HpU/V+tcan2uiMGCmEzjVWZleK1pBkwKUp/ZQrbWXmpWYdiIb5/2eAc+AZ2AIDMhwdcVpQIJGsBDQb4yMnb40yCCOaD1GiiO6boEzFEMmOqSJEkB/h3z6R/dWz9YFNPnJk+NX89HitFofuSa11YB3PAOAZpPDXAgzgwXGJzMxZPTq2+MynvUVjdtvvx033XSTi7/jjjug8EsvvYRbb70VL774Ir797W/jtttug15w3mOPPaC0TT6yScestOfZM9CFAel6oUtkZ8CCTn89fLUXr85kYVS8HKRKbdXHfQxDSEY5JrJb2fwM+s0z4BkYmwyYGcwMGkwF1OhPikqQOLkWR5w1jWjalTuAqASLYpgyMR1ESH+OUJzKhfQ4MJebmIiZyMGeeyieyWDzO8FCNgBAFWbhBFJ6by5lswNYpFwqw9Ky9HRpWDWstncB86cyB+GaGftOoBMBG2cE2NAQecCIkNDMNPmO0PknfxadKT37snnl797knkt1xnbP3z3cmbNnX/f8EW+7sgDDXdFVjtqcRXd5nbmzuTr9AeV3BciyENFVvlRip6Sszz0Z4c2MEUFEScbWOtDPY9iZN5XT3e3MUUufrn0zNoRCtQZaP+h07w/vhQxpLc+Qoaw8H/vYx9wPG2n5xg9+8ANsu+22mDFjhvtSx9e//nW8733vg16CbmhogJZ6UJzfxhMDtehLcpp1SKqUYyTr42MXZ2YwS+AiarjT1VRDcd1EWRI2jmD6lBaSz0FWI5nIzQUW9xjQZfI7z4BnwDPQyYBMBJoLjJChQTg9EtGIrnB2GZ1gjh4VXRQC7xHNzNCxRfQRkiX9KzBmom5Z3mRYliokpEQ25hEtRvrJH71+8wz0h4GddtoJRxxxhPsm/XHHHYejjz4aMqQ/8YlPYKmllnJLOPQNe8nSl4DkengGemWAKghUSW75EPVS1EqV1G7OYAYM9f7Lh80lNQAAEABJREFU6sfa18WOgb2L2bEFbwAz1zwZLz8DuB9SYd9KLZWkTt49Jx6/9wx4BoaRgTFflRSYUc/I1bKLDrBniqPT+1YGvnPDbOyz+TeAFuolzlwkmWlAJ56h76nnnB7vzV1cDb2VS+PrXb5jhhScbw7cZxGjhcDn9/4Fbjr7RYAc9tUEMdkXQPl9oy/pSutLutKUpy8oTxbK2xnWTUMn1NLOkHzK3TdSWcqV+ntzs3nkHzp6qymNH3oNA5Og9dBaoqG10pqV/sTOn3Czhffee68zpA899FCceuqpkEGkmeuBSfe5JyIDEU/mttYKFvKmfuN1z3E2Zjt1lM6xevMR1LsCcPTQE78GzkKXW5aSBoLekow4G51v9LMX8H+egQEykDyeGmChCZy9V76oeFvnLYVS8/KgmoKZrFJU/5gYENmoaspEcToHhwiiwRCgsZiH3nT/zzOtWPDekuD8CMbXX9RHd/pK66OYS+pP2cXl6TwiTuQY3WkJR9r09+a85wxoGcz6ekc+n3cvHjY3NzsjOs3Xs+tjPQNUQXHsbuz1uylR29KI9IEgXiphrv72Jaup8yHg7JC+eqSJhpC1abZIfmOn61yzF+8ZGHcMhGFXpaC1g0EQQN9dzQ5MI9VxM3Ofq1JbhJFqR1pvr8ZzNUOxAVjYzKkL6qYglAFDD+dak2SFhSQ0kfZiAVLUbopZHCQxLo6zzpMnN6FY1DrovllRqYFgEWkaP4RFEvoZobJ9YRExi2vtIgX6GbE4uWl6N3EdbWd6h595Uj+9Y23Ti4WpcbP00kvDzNxLhXkaz+qLZp71GTzpNTNz6WY9u8rvMVEZkF6iMrI2TJ3WhEIOqERlFKiWggJQrgBxRNDW1Dgg1JqpoNYCu8uL2Qk3SxEzJWav6MC4M3acjt/GLgO+5cPPwMKFC2Fm0GCjgWjKlCnQoyoNOFIQ8o8kNIukNqlt3Y394WcrqVG8pEhiet53fSRPbRwTnHXtOfdEiNXwIA6qeptdjqS76Sab0hOf348eBuIoRkAdMXpa5FviGagHAwFi913NrB6SvmJdsjfp1HvL1lyXulz/1JmI4iuT4SY1FPbrnkmI3zwDA2NAhqkMZL1wI2P1H//4R4cApWlmZyRhZnjooYfcekYZrR2NG0UetUvQjb2bodDLhNRJsfvSRLWhEV2B8fRNzE1914e0xcMiDHCgGts6fJEejYeIWMes2hFeilWfdzwD45SBOKRNWb3Bl56KmhhmX3WjrxfB3ZIHhuu01d2ATtutl3tyUQD1K43zrmfAMzAwBvR4UwbylltuCX3u6c0338Sqq62KY445BvpBgsMOO8y9yT5Srtqw2267QUtL5A6sdyOQ2xkcQabiCC4UZ6ImupdcOE7c7EfigzOeq/4h8VMLGUNqwLgrrJtDMz/SjrsD6zu0WAZC2pgh9ZXLKAPaeeq3q7320nWbRbXtAe8Ocmh2n5ZyUckwlXh7yJ8k+L1nYOwyoIFM0AsycrNQrxSWO1h84xvfcEb0a6+95n6QQD9MoO+rjjTUX32e6vvf/z4fsSXf5FRfhcH2tT/lzKRIAAsMZosC/OveBqOy1c09k9ymdzNit+7MBQHDxP1T3wU3SkRZjY3uvKUkKWsWaXyHG9OXBYNwkqulZJgLaZwxg0Cn561aLs3f3VXZvtAt/2KkMXfQDWC4E4u2MZW4aErPMWn+qmvM1SdIpjMUOMDSDXiTYzx/9U3zqoQu7eseR+kjupkZzDoxoo3xlY85BqSHBDVchnMxakWel4SeLsLpEaXUD7qe6ie9m+RcXAYM1b8OTzXsHc+AZ2AgDEyfPh2PP/64e1tdRqtQLpUxEGimuJZQGyQv/bUxszF6nRu1sNDLAZkw0Zr5oGEGGmYTps9jvKO6Bs3G6HU3xrn3zR8BBtJTnW5IG1OG9HC1ou4GtHvpRLVoPPIX9XAdV1/PKGHAzJB9mxx1+DMzmJmTrOUdA4HaVkuYmesv+KfZXoHeUbWpTYJsQq0Zjd1CaEAvX6mh3m4WCx5jkYH0HB6LbfdtHjYGfEU1YkCmbY1E9SxGAxQ0ttOA7jmHj/UMeAaGwoBmnNJPxunFwoFA5WoJtSXtS8yLX0jD3p3gDPQ0BvQUN8FpGmr3dc2ZadAdqiRf3jPgGeiLgbob0K5yXctVRanJHq1P0a/HuDS/8wyMUwZ6nQ2qcX81g6zP2kmsvsQxEKhcLWFm0AAumBnMTM0ac9DXg4Qx1/DR0OCqrndNkT+FIlJ/6naPU7gHRIwT6NR505DYFwZbfV8ys2mDlT+0crpeJyKGxpovPWoYoD7JvssyXO3SlVvXutwLORpD2cEeK1Jajwk+0jPgGfAMeAZGloH+DxEuZ296fmQ74WuvIQNelGfAM5Aw4HRe4q3P3oxVyEimYjWTh/XIYTR9fvMMjGsGzAxmhoDXgZnB/9WWATODZuDN+s+tmbljgm46yAKD/+uJARElVNOyNFGvK0WopvbspGXkZqHc3cOK8xgQA2aWnNMDKuUzewbGPgM89QED3Pt2GN6/xeq9mjSHnavkgVLxHeg3CyTThqdmVTXO4LszlhhIH4uOpTZPmLZSB1Ua3kGp4WV0/oYKI2VZa/2GMGHIWExHOz4JFUG/XVBqfBGVhpcgqhZTsjPZOr0dvp7iOhK9ZyAMmHkyB8KXzztOGOBNvJYFy4iuFN5Cpfq7KrD6L/rSaFFXFs14UbOWcHngT89diJXXTKpTtOt0EvR7z8C4ZEAGdNox/Qy3XvDT2mi9bKeZ0zRtvLhmBrPeMdR+ir+2tjbkcjn3+b6sPDPW28csshnTiY4yvKk/4oxlcP+zxwP0A2UwB5PTPb1SznQm7Kb+p6C1bKgAReBHDx+JY69YI+EtTZebEiW/YIwQoMEsAjSoZcHkLpvyCl0iwZoTdIuesEHpFUEEmBnSJ1zG83/VVVfFggUL8N5776GvP5UXpIucW4kQTTRE7HM3iDNx8uyzz2KJJZZAQ0ODohCGoXP9bhQxELAtAnXN5KWBP//7QixPGzO534+gJcQ6t5mrLpuqrovgVCiv7cRLpSvFC9VogMmF//MMjG8GdPGaGaI4QlNTk1PGYS5EuVwe3x2vU+/SFyTnz59P5UitOYR6Yn0wtIGGXbGMyNqdaqIF3VUidVXXiIkdCsRS0AYUxRu58HqcJIyOTUa0vsGum0u16IUXXsC//vUvh6eeegrC008/DeG5557D888/7/Dvf/8b//nPf/DCiy9MPJAj8ZRCnMhwfvTRR9Hc3IzJkydDfJoZxuOEB8bTX46d0b1OExAHZfBeEmbmwJSabN2F1F39hVatUjWlUJz8cqvJ3vEMjEcGpHQFzWhMnToVmj2VX0pZxvV47HO9+yTjWfxpZsjMnII0s35Xa2bVMjLAdSMTIUAO5qahaRjqx0NSYIL/GfsvSF/H9MfkKeZsiKZ4FGZU3xv5RMR/EKkrfwrFdaJvWT61NwaM1oIgnaLrYrXVVsNKK60EGdSCbtiFuXPnQtDsdBZz5szBHA/Mnj3bzd5rsuMDH/gAJk2a5GaepcP9DHRvZ9/Ixpt0k9PX1OXyS19Ro4MwM5h1otYtVXW1lunleQY8AxkGzMzNljY2NjoF/eqrr0IKWY9LM9m8d7EMAJVyBW+++SaWXHJJN7j1o8hiskgFJpDxkWROjL7UxEvi/B42FA7E6VDK+7L9YUBPaGQwy50yZQo+/OEPO3zoQx/CBz/4Qay//vpYZ511sNZaa2HNNdd0UB6lrbHGGpjomD59OmQ4r7feepjUNKnL7LP0g/R2f46DzzNMDEgnCbw971qjdHqOUXLp1Gmrr/Rqo1vaKmhtBpoXVCOqjk7Iqtc7noFxz4C+t7zCCivgrbfewsMPP4zHn3gcjz32WAf++te/4i9/+QseeeSRQUPl+4Pudfz5z3/GaELavrQv4kb48yN/hn74ZZlllnE3IUM7aQLEUQ5xHKK5jQrKKWGqRM6ygjPSCYKhVTHmS8vwTcEZHg1WFqPU3gJnULsw0OFH9S+NrwZr5mjWO4uaCR5bgswMZtbRaDOD3q3QtSEjT09ohJaWFgitra0Q9ARM7xEIyitoZjp15Z/I0LINkTpv3jwsbF7oZp818yxOFS8EFsA042+d/Ct+sfAZasyAFIF0k8TKWCYUxWBAtLZSX9Gt56Z66infyS4WQjTkgabJQOt8oNQS82JHFwUA/+cZGMcMSAFrQEtneJZaaik3i6plHR5T0V8OVlxxRSy99NJuPbk4HdIpQ90bl+D0UD7XSBdwLzZXlTBDfksZ0JIN59egZMgXGlFO7zlcvN+NRgZ0jXSHDMLu6J5nooS78yAdLWiyQ67SxYVZYiybJa6OtVmnX2GPkWCgegyks6ma2qmTpNPb22lvNtCgrnOT6m5AR5zV4c0aInboZ3f/FxW6+bzuljlWcQCrc/+8eM9AysCwu5qlcEo4CGmcGaSINQOkpRwrr7wyZAxqnaJczUwLyy23HOQOFssvvzz6g8HKH+5y3fuimWetTwT/9ARLoNdtbmaIg5pZVam62D521D/vvA7c/8tW5EPqJOoqZ0C7ItTGaKePmbifmJv6LrD3GqA4W1+RImfwT78p48Vn6Kkm0+e3EWbAONAGFjhdY8bzOY6hpRwyBrOQTuqObPpE8nfnIQxDN+tsZh08Sm/r0JqZSwvCwKXB/40wA8b6BaDcBrQsAP7w27ko8+FYocC4YdBNAVtQ1621rRW6I2h+Fzjj+Cvx97+9AX1zNWDN/kMEdaXeCx9lDAQ66dkmPUqV4Wdm7vGqjGo9UhX0+FSPUz1K6IkDDe4a9FIuzYyMAmnYBfq7o4L91i0v4vhPX4mICjiGAdRLcqh+KYUZuPdbJwOVSoBKK3DK/9yA265+FPqqXWeq99WPgYFLNjN3XejayCI1ErNuNj3rN+tZRjZP6te1mfq7u+Bf97iBhovF4iL9SXVBb7J0A9E9LVsmy0HqNzOYJXBlLYBuTJTObrjNzJzrdyPPQEw1XaIxSVMT/3PUOfjnI0mb2tpoSSfeuu01XNRNuATnciFPRkBfi2oqL4tlp63glG5cAXKBcnh4BsYXA2bGc966dMop4CB0MxhS6nrRR9Cg4FHE4jjQrH0686xBTYNgGIbIhbnk04AB9Qxn4FD9MzN3DMwStxoN3bikQBlYOlgNU211DpBpDmpjYwICRuQIvzkGjHsin8uDlGPp3IewbHFNgHQxpXNjHgjVGCUL1eAijljOYpEM3SMkO4vu6RMsbGYwS6CuG68B6RohDHhNMC0IAmShfOmNur7EoWtJ6bou8vm8+3yb4iZPnuxkK2/Ia01h6aw0TfGSpa8KKa2QL7jrWDJSKF5llK/AaUGFVVdWnvKmeSQ7C5VTfqUrn9rY2NDoJh7SNIUlTxMRkq94tU1yFK8JC9WtsPLK1Vpn5VXblV/5pF9Ul8IpsmGzTp7TdO+OMAMxEFdiNE7KIaRNORUrYoWpbBMnRKeltYUAABAASURBVHTM6avrFtRVeiqcncyxc2Glib1lpAERtaqF9I+RzTfTMzBUBoyDWxiE7s3ukAOSBgNhqHInWnkzcwO7uFTfxaG4lX9AoF4KaSvnS5OpkFRS6pCKyVmF8qdQ2kREpv/VHz+JjHGOt6kIyylvE5GbsdFnGdJpS83MLelIwzIwtCRKT76KhaK7EU2NUBmgyic9NW3aNGdUK5/eVdBN1Jw5cyDjUsaoDFt9Gi/kZJny63qUwSvILzmqSzJVTkarmTmZkqE6ZbxKjvKkT57kV7rCDQ0N7omU8rS1t3V8n1np7aV2l6Y69IlL5VedqlttUFm9FKiXKYMwcLpDN+wyrIMggPqu/IKZuXSzxBV/Rr3twDjl8Rg9DMRRmZMi0tlsUwyElQbkqNM7l+Ixvo5bUEfZieiOl0+SYMfe2NuOgPd4BsYfA1LOZgYpbcHMYFTGYRBCA48QhiG6Q+UGi+6yegsPVv5wl0vbr3rNzA1uGhg1sIF/4pOOizdL0s1MUR6dDAzBFwyhrC86nAyYWXIdUMfouhBUv66VFDJW9TRHhrBcGZKaiVVe6SPFy5hVnAxOzSqbmXvhWQaqGeug/CWWWAIyZmWcSo6MbBmuMrJlYEuGYGZQmvIpLPmaBU7D+tSe4nSdp21RnKA2pLJ1/QvKp7Jql+pR/5RHMlRGyH7i0szcC8e6UVC8jHLJyLZJMlS3ZqXNTMEOiJeOAD1m5jim129jgAGNFVnUusnDox1lKwu1br2X5xkYgwxIKcuIliIXNDAIqV8DWQrFDQSS0x8MROZI5u2tL7U87JFRmkDHbz0xMDzDRE81+7jaMiCj9ze/+Q0uv/xyXHrppTjnnHNw0UUX4fzzz8fbb7+Niy++GF/72tcgo0NGZSWquF8uPOGEE6Bf6FMelbv66qtx00034ZJLLsEpp5wC/ZKfZMu4ffW1V3H33Xfj3HPPxXnnnYfvfOc7fOIc4Z133sFZZ52Ffz75T9cp/dy4vuv++9//3rVHn/e8/vrrkcV1112HCy64wLVRNwE//OEPcfvttyPkbHepXHLGrGadf/3rX+P444937XnooYeccS/DWn3QryyqnWq72ihDX8by448/jtNPPx3Sx2qQDHy5WZ2jsJm5euT3GAkGRm+dw64ZAxnSwujlxLfMM1AzBsysiywzc8o4CAM4IznMQet4gyCAEIahc+UXFB4IVKYvpLKUR34zc+1QWAOLBh35wb80PdJ6K4aVrkEmfSxqZu4xrNI1MOlRaK2gGSZBbRHMqrxZAA2kxlkwgc2q2ebVUs2o7EFQwDiBTpdNcVl0SfSBATBgZi63mTkdo0D3aySOYtx1113O6NW36P/1r3/h/vvvd9+l1xeAFD766KNx3333Ib3uDj30UNxxxx3uB1n0LfYzzjgD9957L/7whz+4b9g/+OCD0BIJ6QEZ5xtttBEOO+ww3Hjjjc4wVnkZvcojA/2pfz2lpkGzwS2tLbjllltw2mmnuR9IksF86qmn4sILL8Rxxx3njPBrr73WyZLBfPPNNzsjXMsvnLH+6qvYcsstsdNOO+G73/2uM+q32WYbfPKTn+z41dc//elPzlD+3Oc+5+LMzPXtySefxGWXXeb84J/0m3SL9F4KRndsuqnoCHjP6GKAytvZlsPcKmmuYa7SV+cZ8AykytiqhqAUd4owCFE30EB3xm6x6NZDhtWwBiM91kwHJhnKmr2RQS1XYfl15PSYVIOrDFw9GtWjVskMwkDJNYVZYgyk3KR8pZWYJelpeDBuqnjNrX0ejIQJVsYAN2s/wbo9HrobcuZWhvIqq6yCe++5F9///vfxv//7v/jxj3/suvfNb3wT+hW+L3zhCy78jW98A/oxo1/96lfQ8gzd9Gspx/e+9z384Ac/cDPNmkHWL/i9/vrrznDeYIMN8OKLL7oZ7YULF+LRRx/Fpz/9aUiPCIViwcmWX7pDOmSJJZbAsssui+eeew6amf73v/+NIAhcWDPXb/z3DbdGW8swlFf6Suuud999d1ePDHv9Qunzzz/vZtB/+ctfQgazZKy22mruFxY1Sy2jXn1Qeekx15DMzqSPqzrFjCd6Js17RykDej9jhJpW+xFvMR1xitedlxEwgh2H//MMDBMDZuZmhMys1xqd4pbyHiJ6raCaoNljeTUTtP3222Pfffd1Mzh6RPvUU09Bg4vSNQu04447YrvttsOuu+7qHqvOnj3bPdrV49oDDjgAO35sR2y77bZQPs063XbbbSqKWvVFcuppOKuxqfHc9aWTANRODsrj0clA3On1vlHOgFmib3QdpdAsq9ZBp3pAM9Lyy9DUTX1IA1szvrrGNQOsGWEt0dh0003dDbdmmWVIa/ZYhrQoCINQDjRL/e677+Lss892a6a1PEMJ0g1yVUb1y1Vd8iveLGmn/JIvV3LUpv/+978KdkD6IA38/e9/d8tLtAxFP1EueXqa96lPfQoHH3wwvvWtbymrg+r86Ec/ihNPPBG/+MUvXJwmC5wnszPrbIuizbqGFecxChmgJRsRXVu2SETX5BqE6l+DGslaykQl4LDkz0cx4uEZGBEG0gHo//7v//DII4/gE5/4BFZffXU3A7X11lsjDENoYNG6QeXZa6+9oB9P0TpEGcoafDX4acZKMz6aydKskGaSNAs9Ip0aYqXOiKZlSBXlJEUIaE8noMZycRNxp75X2HFBnCiMKIbuLHQOxPoItNfnZGjsbLq+9aRJM8O77LoLNv7Ixthhhx2gpRtmycHUTfNnP/tZaPZ50qRJ+NKXvrRIB7XMQ7pBPwj1vTu/576CIYNWs8OzZs1yxraMdukS6YxFBGQiZJCnUF4Zu5qdVpyMYmXVlzfkBmGAIEiu1JdeegkyuLVcQ7pHLz1qzbbOzcMPP9ylaUZakwJKO/fcc6E277PPPi5NeksylV+ux9hnQDZmOWQ/klOZnvpuyZlYzzqqs8zqVDs7VlGN7FxUja9n1V72KGDAN6ELA2bmZqM1CAhmSbhLpiEENIBoFinS1+UpR/7Hn3jcvbijwUdhDVJ6a10zQ0cccYSbqdHjWM0wa8ZJg6wMYi3b+MxnPoOvfvWr+N3vfucG2cceewx6BKxZq49//OP49re/jTu/d6dbRylZqoPV1myz6ox8KtCshnzRFtTHgARazK6KqGo8g66LmMC7mH1vq0JGtDgJKgZ9Pzvm+RXFysEMsqhTKEqohgPyKChXAg0AWSSxfl8bBszM6Reznl3pHC2RUG277LILvvjFL0JuakwqXksjtC561VVXhQzQZ555RtEdkIzNNtsMe+65J2Rof+ADH3Av7ckw16y0Zp71kp50hL6UIcgYlrEryCg3M2dkK16CZeSaGeSmxnDM80t1qYzerVA+xTU0NEB1yChWeM6cOS6sJWbKq7jXXntN2d3n7lSHDHnps3vuucfVqzXaWpMtWS4jd9J7Zj3zZpbEM5vfRhEDsQVO06hJsi3bcmVoshammPojqH8VrIG1lNkhdZAhJIMVI13A7zwDnoFaMaABTAOGBqGQj2OPOuooN9BpoPzQhz7kBkQNSmEQurfiNcgJeiFIs0dbbLEFNEutAVADjvJpANT6RA1OMr41K6QZIkEDmepJ22/GCz0NjBW342be66Tuh0y2cAqlOao4FR3HFc4/J2a14scrxmu/dG1LJxx55JE46aSToCdJMjwF3TRrCYeeQH3kIx+B1hnL2NT1L4NTrtZIywjVy3+bbLKJo0m644033sBfH/ur+3ScdFC5Uob0g/TS+9//fvdJO72AKP0iWYp/9dVXISNc6dI9EiYdZWbuiZj86Y25lpzoqxvg3+abb+5mkvVioepQfWEYQvkVt/TSS7t2SGepX9JzLAbVrxcp9WWOlVZaCWbm5Kic0j3GGgNBR4NlY8qAjoZpGOqsuaMJtfRQ03bcH1BuXL1bcJ1T1QLj/eYZmOAMmJlT5GZDc2XcalDSIKe327/+9a/jlVdewe9/93v3Fv1VV13lZouaJjW5eA1CGry03lHQgBmEgWuLBqP/++3/4brrr4PWD2pAmsXHsxpMNYN933334cCDDoTitIY6HajMzA1iQZDIMRtan8w6y6OWf8Z7+UAC9eV9uQwnDpgEzUy75GrcRHQcDx0dlz5nDLfIyogC8kY/nI5XGjMaXYFev40+BmRISjfoJlsv6umXCLUUS34zw5///Gf3cqDWFet6v+KKK9ySLhnZ0i26xtUrfXlDfr3gp5cHNastY1y6REu99Lk51aOX+w455BAoLH2i5RZ33HGH+xKIXhjU0rDf/va3kB4yM2ipRlqP2qo6UigsQ1ly5OplxyP4BE0vBuoTdmq7PmGnJRpyzz33XEhPpTPVWhoiGWrfDTfc4F5QVF88xjADtCkDC10HYqeLnNftTArc+eq3q/v4YFbtVY6dyL0DBO3gkxnOcjG82M1n8Ax4BgbCgAYI5ddMTbrcQgPbXnvvBb2Yo0FLA5SMW834/OxnP4O+h6rPOeklQBndKq/BTzM65513nvvuql4ieuCBB9xnoDSgKU0z0Ouuu657a3/55Zd3b9mr7JgBtV9UeAeVIh/30h9XIhrO9LADWhct0DuhN6ltMWKOhcCZyuB4VSm+jrjwCqBEl9af3YAy90egzzNABiKe4zKetVxrjz32cNeubpr1MrAMYRmk+izc5z//ebeuWUbqMcccg1tvvdUt4dLyC1V55plnQi/uafZZefRJOOmen//85242WeumZUxrzfE///lPaKZXM8D6xrNmtL/85S9D9V555ZXuk3P6prT0kozjfD4PLeVQPXJzYQ56CmZmSGeflSZogkBf27jzzjvdy8x6uVmGtPSZZsmVR/pKrgxoQf0//PDDceCBB0JLPdRu6UO5yucx1hjgMzJuVN5A7i0CySKHgSmnQXU6GFSpfhcKqGulgoGmJYGbv/FFrLx6gUo3hgUVSokIv3kGJi4DZgaz2kGzzxoIwlwIvfwnI1eDjH7YQDM9mglS+oL5C6B1zvqElD7npAFNawi11tnMoEFMMzeaydHgKBlrr702b35jN7usGSetgzzzjDNx7TXXurfbZXTrSJqZHAczq2n/zLrKc5UMdhcCux60DL5y+2FAHjQOy+wfoHedEZcoVYjoDnIbw8XUa2P7SZGo6RiK2kutAFX4ZTcfiIM/vw6o4JGMVgFzc+OMEARXohrHaLiw8/jdMDJgZl2uP+kFLd3Q06NvfvObkOGpT9Lpx06kB/QFjh/96EdunbCZubXFmuG9//773fILGb36HJy+cKHyKiujWTfYZgYtE9MNuSDjWMasbryVLp2iZWKSL52i7zbrxUN9I1o6SemC6JHBrXz6JJ5l3oPQj74ov/KojHSUjG99rUNtkf7Smm3pM+XR2md9bUhrn6W/AgucbpNe1GSBPncH/zfmGNASMsFoRwoxldC0pYGrbzkKK6wG8JSBmwDRtLRQpx5mNVxdqnB3dpRsHKA23XJZNE1aE6nLAAAQAElEQVRigEMVn+7SIzUt0Os3z4BnoCYMlEoy/IBZs2ZB6ws1UMiw1vdc9WtiGqQ0kOrRrdIVp0e2cjUro0Yov2as5c9CRrYMZRnQetkomzbm/NR+S60NrP/RpfjouBkWMqKjE2UgJjrCE9ETwVBGSH0dsvtiJ8jLR84+0oBVN6hGQin0+23UM6Brd7XVVoNufmfOnAl9eUfQrHNTY5ObxdVNddoRkyXCwFZbbeVmlqU7lFdLLjbeeGMIMqqZxW16J0L6R+9MaCmFXkSUYe4SuZPRS8etud5uu+2w4oorumUWZqZoBDQMJEP17LzzztCstUuo7jbccEP32U0FJauQL7j1y+qXXoaUkaz13WaJvIaGBmgpin5oRUazlqepbAr96IqZuaBZ4rqA32FMUFBdLqZzgcoKW237IRRlY+pQxvXvQZ01X8QeRDDVws6oT8aduTUrmplWgsBsfvMMeAaGzIAGklSIBsarr77a/YqXBiZ9G1WzQWbmBhUNdBrk9NhTaxXPOuss98Kh4vWoVo9gU1lZV4OaBiXNEmXjx5yfuggtbHU7UKTxEEMRSPYxwEmNBPROtE2LNaSZg9Q4Fh8koVjMo1LmfE8IlDkZHUeMTGijx2+jmQEZGdIDhULBzcJqOYeudRmsuqbVdoV1c6yX/BRW/rSc4pSum2il5fN5uCUWuZyCDiGffCleekizw1o+ofIukTuz5GRRnWaJX3UwqWOTDC1Bk2wt6TAzmBnPu4qD8qsdcpXXzCC/mUF/kq02yBXSOPU32xbFe4xxBvi0y2RP0pW+LhZDmBQXTwW5HTCDmdW8s6qq5kKzAqlqXVB9BNvftQ91r97V7XeegbHHwOBarIFEA6QGMA0ielyrx6Qvv/yyW+937LHHOsFaI6j10HrEqpnpn/70pzj//PNhZm5wvebqa9x3ol3mzE7rB9dcc033spFe3MkkjT0v9ZGWI6AxaXrVRqwGvG5yRIgUQYGqGxYMGphyDYDT627w8nxhlP+ZmZutlfGppsr4lK7QrKwM1eaWZiispV0ykmX86no3M2V3ekE6xSyRo0jpG8XJL+ilRLmKlwylyWhNoTRBdStd9SncHUrvHmecDU/jU7kykMvlMmSsp0/E2kvtTo8pv6A0lSuVSy6+u1wfHicM8DS1YVZDw1Zde5kntW5U2clxcrh8NzwDo54BDWRmBr0wmG2sHqtqANNApMecGshkdKcDnQbVpZZaKlvE+ZVPMjX7rHLKJ5hZx+AkGS7zMOzMknrNEndxVZol+cwMbnI1zxJupYamUiNUECE2WYpSVgLTFewNTB6fG4cGGcYJLYD67x6XVtDWvrCzy0ZvChHa4Wc8t7Q4vX4bBQzo2tU1n22KWXLTLJ2QxpuZe0dC13saly0nOWl81u34nnQ1UvmEanBAjsqZ6YRKiimc+JK9mUGGsdolXabvUIN/8tNxm8qkYekrM3N6yixxXSa/G3MMGO/cBUjnsPVWXQvdXmqDM6Kpw53LtHpu1JL1FA8Y/1tbm7kvgGMTnCKWMk4B/+cZ8AzUmgENHH3JNOOVmYHyC2Zd43uTYdY1n1nXcG/lRlW8rDvqoUqbWhUghyICKl44RSXVSANaRiQm6B+5gfovuDcrxUOEYkGLDOlfQJBDbvT4zTPQOwNmiX7oPUfPKWbWc0I/Ys0GX7Yf4n2W0cCAXhAU1JY4hMVFVNoBM4PsTtT5T6NEXauoRO1oaGhCnjVFWm9YYXVUzG7tHL1+qwsDXqhnwDOwOAYiZqBOCuXS21xqoekcIdJMqxt73Y4pE3RLu0/dLQbIDJ0Q4ACF+fTy/gJV7hjym2egLgyYmTOI6iLcCx0XDBiol2hbxq1AWID7y8vodDO2LliXXVU11kV2F6HN7wLbbXUBHv/rey5e34J2Hr/zDHgG6srAcC6pqGtHai2cCvfe2xfgi5/6mTMKC3lp3ogql5BmNFYo0Jmwm3hwnZelHLk1tCgBp3zmN7j7ujkAOXTJNd15YZ6BoTNgNtEv3qFzOGYkcFJWN/N773YNXn6Sraa6CkPd4dNfx61DPdarjjDgoMTOBVS0s98wTCou6ZSuDGihXvV6uZ6B8cqA1iqnfZNfLwOm4dTVyzV6QfDpp5/uMntTKpWgL3Eon36hUN9j/c9//uN+lVCuPmWnb7hKrj5zJ79+1le/PqhvqqqcZMgo18uH+mEDvaSjeEFv8D/yyCPyQr9uJnkvvfQS9CMNkq86//a3v7n0Ed9RL817I49/PvIGZBQGnMUwGPUwocE3HPEWjmwDjNVrhCC0NpwhxBUqcqr0Z5+YjVee4/Q9ByrFy+kJSvPwDHgGPAP1YEBqOl3NMJ/38y/+e2HyCX+qKb1MWo86szKpGrPBxF/bPbUwByqOSkDUAE7vOPGRtK3z+Z1nwDMwEAa0VvmJJ56Afk1rlVVWwYc//GF89KMfxXHHHed+bVCy9Ma5PmOnXwxTWAa1XP2Qir4PLfeTn/wk9EMFa6yxhvsuq9wZM2ZA33h9/vnncdJJJ0HfXf3gBz/o6jjqqKNw1VVXQZ+8euedd9wvif3iF7+AZm5lVOut/dNPP919W1bG9o477gh9sUM/rqCXDtdZZx2kdeiTWGmb1K4RAXVQWC4iLDfB6Sc2IkaiEjnXmkRRfTF6wm4Re54az/QmGyPFWVAhb9LtSazfewY8A56BkWFAalu6qGpjJka1IuurwFVDHTss8QKrYD8MZYR03RhFdzjekmTNfvMMjCsG9POzMoJ///vfQ5+pe/DBB6E36K+55hoceuih7id4ZWSbGd73vve5vltg0CyyvsZhZtAXNh599FE386wZYv14gn7R64033sA//vEPZzBPnToVMnr1U7yqQ7PLJ5xwAmQc6433YrHovietN+FlECu8+uqrux9G0BvvKqfPWv3gBz+APo2lXxB7++23oXj92IHKucbVdjdgaSbF60rRMqSb7Mu819di3yTE6Am3RbyFiN2CZ/eZEvY/QMgZenoQ8hzq5E0xHp4Bz4BnYJgZoB1ZVUlwriW6KmJ87AxN1PWvat3Wsw7XEwQcpASndKv+etbqZXsGxisD+plaGchaonHKKae4X+b6f//v/+GrX/0qfvWrX0H+QqHgDGnNFqc8yCBeuHChm0GWIRtY4IxdzWLL0NWvh6mcZpxVRoayoF/30syxDGAZ2tdddx2UT7POgpZ76FNR8mtJh+qQQS0jWfFrrbUWZHzrV8lkeMsoV17VMdLorgCprRAOg+Id6X4PvP7AFdHARLsaMW/IYhdw0X7nGfAM1IQBL2QoDIRRAL0ULlsTw6DHE604lBb3pywNZvdie5zj4JQU4ASG80TcC3T85hnwDCyGAS2T0Azxtttui2WXWdbllpErg3qXXXaBZn6feuopaHmE1inL0FW6Mmqtsn4YQX7FawZYvzgoY1ZGsIxozSKnYbmSp/xRJcKf/vQnyDCeOXOmk68ykqm60zpUp5lB7VR5M3NlJEM/dKAyyqNfGZObQukjAuomIAfNXgQA8lWEjDMCw6CEWeWo3AL23ciBORfurxLQMaGAmDdg9PVzk5bvCf0s7rN5BjwDnoHuDFB/G6HoXAUolnPI05W9qbh6Q+qw3nUk8tVJGtCQm8T4vWdg1DEw2hv06quvYs6cOVhttdXcjwjIUE7brHXG+iEDpcs4lpGstHwuD/1al4xh/eiA4mW4albYzBCGIWQEC2YMB0k4ZPxbb72FL33pS9h7n72x++67uyUdWjudvqCx4oorui8zSK6gGWfJ1+yzyodBIgv8CymPzujapI/iAIlekpsgoNEoJPGjq8nD3RrxQFYcI5GmQGLSZSEq+v6qjOnhbpCvzzPgGfAM9MBAGOXcDPRw6W3pxR6aUb8oU41UuhynXSUKCi7gd54Bz0CfDGgpxfLLLw/9PHeaUQayDGJ9MUPro7UUQzPNMrLdbHRUgZk5aI2zDGUZ2lqXLBkKy7iV68JhckUGQeCWgeiFQi3r0JKR3/3ud8riZrqVrllpzTRrRlkJ+mKH6pcRrfQgDCDZSgsoT66g9so1S9ol/4jCoJUJnU2gkThcSriz0tHnS86EznaZkSgFg6orf59IZ52VSX65WSgui2ya9w+QAZ/dM+AZEAP9VU/KOwR0149DENVHUQ5G+mSdBs1YurIa7qOET/IMeAZ6YWDvvfeGDNm7774bmmkWZDBfeeWVroS+yCEDVl/h+OMf/wilaXZYs9W//OUvsfLKK2OrLbdyeRe3W3311aEvbVx88cXYZJNNIDkqY2aQUX3zzTcrCK2n1rINGdQrrLACdK0rwcyQGs6pi1H2p4nUUdak0d2cQY0aUvyju1u+dZ4Bz8AYY4C25EhOdAxKFQ6E4qzBHDMgQ1pTPc5V5wcibLTn9e3zDNSZAa0hPueccyAjWl/c2GKLLbD3XntDn4q79957oS9xbLbZZs5oPvHEE91MsQzmT33qU5gxcwb0RYzjjz8elplBlIEd84JMZ5HNktt3zWZr9lnrm2WQa6ZZy0DURZWRwf7yyy+7T+EdceQRbnmHvvUs+VljWYa1ymtpicoKZkkd8o8WOGU4+po1WuhJ2qHvQIdAmW6hkE/i+tiL077QR1Gf5BnwDHgGRjUD0m11bWDsrGWA4zMRE6yOhjNt6cTPoN88A56B/jFgllh499xzD3784x9j3XXXxfwF86FvQuvzcJ/97GedIBnD+vqFll3stdde0FpmzQzrKx3KIwNXhq0yy0DWlzH0aTuFZRzL1fegP7bjx9zSD4U1+ywDXn4ZxFoL/etf/xr6drQMbX3z+Te/+Q12220395Kh8glaKrL++uu7L34obGYdMhUeabiXUKiTRrodI11/f+qv6AP+NKCbig2YNLnQnyI+j2fAM+AZqC8D3fW3qbr6P/WquwGtbggRO6TuyAX9ivPwDHgGBs6ADF4tx9hpp51w22234ec//znOP/986CVCfUVDaWYGfVLuAx/4AL72ta9BSzd++tOfYvvtt+eNq25kYyivZp71eTstvdBXPNQaGcdyzz77bDdjrTwKyzUz99KgwoK+BvLtb38b999/vzPoN910U8g417IS5Vce/dDLQw89BH272sxgZorucF3A70YpA12HiDBguAL3lZXmheVR2mbfLM+AZ2CCMTAi3aU2rHe9NJs1XnLWArk5cB+E1t2C1bteL98zML4YSA1SLaPQy3laUpH2ULPGmnVW2AKDPi+nH1dRWGkqa5ZcdGlYaYqXq69nyJ+VqRnqcqUMvaSoPGbmjF4Z8PqcneI0I616wzCEvvQh413xSjczeaGvfcgol2FtlsS5hJHesSnlwkKUi29BH5cY6eaM3vo1TAhALpeHHiq+1fw0XnnnCcDg/zwDngHPwMgwIP0jVG3KCm3MClVUos+jurcpqG8NEUrtrUAOaJwKfOZ/Po73r8LecgtoUNOpb/VeumdgHDFg1nnFmBm0pELdkysDVa7CMlT1GTn5BaWZrHDwNQAAEABJREFUmZtxVppmnuUqzaxnmUpTPiHMhQp2QLIFRUiOA2cmZYSnedN05dESDrlp++QfFaCiXW9WE448cVtUUhrcJ+2CUdG8UdUI8YKA/0CJ49IxJ2+HXQ9fF9Lt2XYGDGTBoN88A54Bz0BdGOCzVDilROlNSwEHfG4rFJZhgLrdLTejt56bdF095aPYMAkRH/kZDegvnrkVik2szgAZ0H72glz4zTMwAAbMbAC5F5/VrLbyFl/jKMpB7bfxRw0HHb0ujAo35mz7SL7RPYqY6bkpnOWJorLjav8j18E2uzYiCnvO6mM9A2OJAd/WccAA9fmXT90OS66a9KVYLCaeOu5ZZb2kc5qCouNKBQEHJ5SA9mZG5Agp3Qk8bpMBv3kGPAMjzADtQeiduJj6qBy3wvT7r1m9ZIkOG+FmjnD14kBgM8iNOKpErdDMM1W7v98gLX7zDHgGhpsB6aQqTDO0rD+Ae5LY3gaUmRQm6ziYUL8tqJ/orpLLUQmFKYzjYAUNTCkY5beJzoDvv2dg+Bkwaj/d3If5CIU87+z1OQ5Z1WqK9JPcCQ2OQlrwLA7EC2E0mYvkKkfOQk6MGI1qJS8eJHvxmXwOz4BnwDPQTwaon1I9rc+8UReFuQoKnHjOUd1UqKv6KWjQ2VjNoMv2u2ClVEKYp7ZVCdXYf62rEh6eAc+AZ6A+DFDpWhggqrQn8hlOlpZVPVXHxfXkT0pNoL2hvdSKIJAi70e3tXZacFl7KKO0LFy+MbbzzfUMeAZGhAGjYjYzwAFI38EpyeaEod5/PWi02lZpYQ5xZFD/Kq2UHREw7li1FCd9fvMMeAY8A8POAGdUI9rNZeqlSlk6qXqT7xqisPNM4B11dPqGTpWOKIqRzzW6L3G0akneBGbHd90z4BkYSQYy+knNoD6vaKlwGzBcL6wHqrc+SEVXkCvy8WgIhA2sKSacEU3XiKFvXoJnwDPgGRg4A9RFAXVQrgDki42olGhNM9wpqEugM3pC+QL2VqDDLQhyiOIQEQeqBr0QTg4Z3fsmCoXecigti97y+XjPgGfAM9DBgHRSFkyQXVmGW8LB0LBsakFdK4oRIWanFrwG/M8hd+DF5zltoY5WWK1cOn7zDHgGPAPDzgD1z0+++zpO+9zdruowX3Sue0CW+IZhP4aqkKGLACFHjTOPuxc//PorCKTHx1AXfFM9A56B8cVATD3uljvTPXz/q/DaU3xAxhv8iLZnvXtKVVjPKgJUYoOWbxTbgUd+8zLQ0gTXYSnexc1e1LNpXrZnwDMwsRmgkp397DQ8/Iu3qZdSKqSUhDTsXceAe1knwoLmZsQtwKO/fg9PPdgKlF1qx45jmBu2UrcjgYY3ekRnDu/zDHgGxhgDI91cqmq9+w0Dmt8F/vXQPNh8OE0zHE2rswENmIW8HQBCKtqwtAR0pxCz03KdppUf/s8z4BnwDAwzA9Q9ufZJCNuXg9NFw1z92Kmu0xzWr2BaAZgUrILJhNPjY6cjvqWeAc/AeGKAOtxNyKpP9OdKSyIsMSCVNQxmdN0NaHaly6a7BX1utUukD3gGPAODYcCXqSEDTuf2IE/xKbonp/Gp2z197IfVs85eRNbp749PpftCf2T4PJ4Bz4BnoE8Guuul7uE+Cw8+se4GtME6Whe7qeeOoPd4BjwDnoHRwQBnL+LFTKfWXVmODib6bEVrayviVkBuC/19ZvaJnoE+GfCJnoEaMUD9rcnZDmnDpKzrXk3WZjYzNDSyi/oaBx8DltrLDPjNM+AZ8AyMDAMlqqD0J1+TJ2PUxFJadNIWSUkKaXgiu5Mbm2A5wMwwedJk9PdP/PWE/pb3+TwDngHPwCIMUKno12RRAcolQEvMytTpytfa2i6nrmD1dZUPfTdUEzsBJ6KDQD9YwPr0TI+dzE/KMeC3kWLA1+sZmOgMNPBmvnn+Qmi5nJl1pSNjRHdNmLihSKMVdfe0yVPcLPTEZcL33DPgGRgNDMQ0ntWOKUvSiK6UQTMTMqhjqnP9GqFWPqRQvlqi7gZ0ezvvAipsMmsqFApoXpD425vpMol7v9WQAd2bZNFFtAwCoUtk34GsrP74+5Y2fKn6hI3aO3w1+prEgDjPQnH9QbaM/P0p01Melc2ipzzZuLY2oLGJj8Woo6Rks2nevygD5mZCgHK5Ak2ILJqjawzVvu5NukZmQtljlfVnsvTmHZb4bJvkH5ZKM5WozsVBRkKaJ1N0RL21ak8qp79u2un+5h9ovlR+6g53+e71pe3oze2ev3u4t3JpfPf8neHOEbYzLnkXu69wKjd1+8rbU1paLuuGUjLM3DI3iS1SnUdlIJfPu4iBvrfhCvVzF/Qz36CzRSX2TEZbDsgXYjzy0MvAPKDAMAqpWOZxr8H35qb5sm42bzZ+tPjVvsG3xc30DKJ4kCmT9espAHhHpgkk58/kG5hX/RJ4hrpvWJUR0A14/ISByapX7ohtgkP/a1CfFofu0vqbP5uvu4zOcDZX1t+Zoydf/3P2VLqvuKzkrL+vMl3Oub4y9pE2cBlqHTjpEPchVXkEZpFTSdx35i7AcqssiwrjymXu9OuoApP9ljJAXqreluYW6KZj+iYfxnMv/0ukI6AqCJhFS2B07LJwuiZm4RT0ZjflTcPyS4cIadxoctW+ThNhqC0jYdSZnfJ6Cy++nizvnfIWXy7NUesbR/UklS23VvK1siqR11W367ikULqgsNxFodZFPC35vJ/jFhySuE7uuoYlK8Wi8pKYtG1JSPtURtLWxZVXiXpDbRh6HZ39SmTpwk58nXvl6Qzpek7RM8edeXvyqd0peOCQRdxWgZaURZyQffYpINdYxqRp5Jz2ZTGwnsTVNC4YtLT+FCS3UzS7w86Aj0q332VLfP2rDwKtLEzjubSQRHf0kZmpUCocBstxGSkUFljCbQta5jMXy9EarKDE3EoVYvozoLhKCjKuHIITUuOdWpNiPh8HJwojQHulDRqTOVmDHsFCLp1WbdrfmM8jWloWIiYH2Wa2temCz8awc+xXNib166AKaXjubE77V3muVBhb9ZdKCjDcxyY5WcSVdsQ8WwPooDbTSJVbRlRpRrmdB7aXZrGr1eOW+MCQUCq3QX9pW/QLZ1FJQgClxeRDqPDodqJ6nJlNn7DpgNNikq8OqtXgYJ/Ib2+L2G7V2BMitqYn0DJgvWWesPObedenhnaAlZP/ha18/E8WUEV6HHtzF5XTIZDSEimKiSje6BHo9LGpnzqOcjuzpb1RjBjReSb/omBF3SJlTDa3ll17lJpFWouurQXN7ZCbIj0OxuOQoAIdO4lvby/zHAHSPKmrNJ3bkiuQbpcvYpe6gNeIbirVF5URFiwsM3tMVBwUV+EJLjml1grcp4sV6XpSoY89kSMhPFXfeR348W9/jo/vvQVCzloExpLM4rLLZYlkU6BnsET1yMO5Sf7xshdRugbkJj2d3NSE4hRg+71WxsP/+AP+9Rj7qqQWuuJW2cvkKvXLqyeNxmuxhXK4dfDLNJZyvFVKJVRKvFZ1vfNo6ryRHnVgmY7zhWVKVf3QxmPMCxddIIFVSEbV26szZ35yXUcUomu2U1hSRF0TYirw9hJPmi6NZ2N6CPd4jadZE7GoUI+CPY/RRgmdqDBcceMa+SAPqruZY57c3mB8Vi3+3IVDadUq+uXouox7mKKbv2AuIk3jVaXwEJChTnb6CleLdDip7inzGu6I7KdHTzpaW9vJFEC14lzdMKh4yof8PSFN7+rGmDv/bbLUQnYXoLU0j2P0QsqNOd40040IHZlO9CQ7jUtlS9ek/sQ1HuMWyiJTMXMLdLpsjFNfHJigcq1trSzTWbfiRJvcnsBifW4BeyqZJb3skckpLoVUd+sY9QTVnSCiJF3UiZu0RXv2z50ZifCArKrOTiTxi+6TcpKQ5K32WZwwcxJPD6tsXcjrg3ql3MIAN1aBFBaEUPW6ib/mip9gxkaroLg8y7mthJB2ohGxGYSkVldExVyuoezUzqGU77ssyXB2VguzTQY++8X10UwyzjjuFYB6K19k9dJJbXTbQ6A1h7A1j1xrAbk2olRAEOVZmOncS5k2NjbxQgpQ4UVvpSKCtjzLhIR1RRsQpmhVGvOojiyDyPyV6Bfa6WZBGRDUTkF9kSsoH/sYsEi6NbF9xgPG8QCFsIgcD3yOcp0rfwqeCJ1xAfPlSFUOZiEaGychDHJAzMYyn26Si2EetOMSqD3tBrQJoNsD1DaBSdOmkny6YFvltLEPss/zOvnUjwWMFWQLZhDRX0nRDFRYLowb2DbJo3A2D2xUzM4G4WTkCk2g7gfUPsnNIGBcoOMstJIxoT1ALipy4AT7yuNPR0rbzFAhT/lcEVYKYTxuYVvI41kF+x6y7yGbYFkwDpJfIS+ubUCxWKRUIJcLYAG9lAseD7Bc4NoEnkMBkVsUPP+APA2xJkxpWgIlaRuKgCPSEFdCNMS0JtRPyaSbnrc5ls2VeEwdCnDhqEA5U9HrH491OzmO2S6dGxFd0osuYDpSMD1mveVyvmeR5QBlHr+Ax07noH4AYxHw2sjGlecDIblrKuaofOinZEvB80fHxZ0HjJwUFqC2GeUb2xSz/3Ktmdy0EK0hwOMWMT7Hs1unmwYaoxwH1gOiWMyzBiCinID96RkBZzoJytLxUxsmT8pRPxgCzhgLIQz5MIS7XnIhVIeOM9hHUK+A7Yn0mK8NiOl+7shvYZmVcjjg04CehoU5doptYyizLRKRSZso3gAgxzrt26g8eJpii48BG262Kj5/+HVofY488FyUTnfnpuM7iYt1PpFWHYei9L3oFJisrcwbW7l5PW5tK0LHyVryMB4roxzjeeT0CeXrPJU/r5kld96EKtoFuh4qPEciXt8RZbgyDCMFz1PXRrmUOa0wFVpOGFQC5Cq5pJ9gf3ViqsNI/kJe64WAs0C6KiLWG7FT0jNZlBkXG6Y0Vq9xtqFDBJN4ejphEXVQGFIW0629EVaqotyIUOC4FjrkId4mBdQxJL1VOpr9djJTDuUyLqwwL681sM9wupVVUX5Hv9P+y1XfBfoLQQ6Busvs2jSBoa43FaYxnnxIBnlyupL+oCek1yzb6J5EUFBAIUYLTfLy4oh9zkk3q95+QnqwwOu4qVCgRCAX8PBQjlX7rHRQZ4A6rkeQL41hAud3oPOiwvFkySnL8igWqZGKyFMpFYI8Ip44xdxkIGKfeS6AutOhxErZP6Rg/dIvKVwbmCYjWI3UuCpX/bb2SQDHOJ2zDuTbueTTueRSx9dBcQznowZoDJCMEie4NGmQYxOkdyWTtKKjLczf4WcbFvGrreS+qdiAYi7nzAnjuRIQITkMebwcWDbHvF2QxjFPziHguRnyXM0ReTaPjeKehPFqKTtIdsxzMGoJEfPahRuPmUkcpHymrq41gWlljhfMBWcUy8O2yVFfeXjQUCgi5jHOKaA0tl9pDjr+tCWvvOBNPPv0yzjx9D0TOREJ5TFV+5ysOrjyQfYAABAASURBVO1SFmonXh1MIamcEaKVASmPaSsBl155BP744H04bNdHcN83AMxBgvfoclCDQEJAxauLw3hgQyolKQ0zQ6h/KqOQ8bqYTQQqb3fw4kEaJ3kK68LVSecOAHecFQNn0VQPyLe7CNMyqauyaZuyrvw8qO6kBXgCVYh2aBDWRaRTrPIuEyRHedVPuSkUVp9nM4+gsFylqy0asKSkxWWFedT2Mt0SoQtRYUH9T6FwFpRTlkxjGZWlK2VZbAQsh+REEy+9IGB8yD6GlO8g2eqPOKGBGARTKaMAy1PBZ9vEMmDZDqRhlc2C8broQrYlX2B7uOWKOahtinPlWXfHccyWTeUrXaAsN1jo+Kqd4oyHuMI7+pjaJwgpnNzJmAwoR3Byxbe47wnqJ/NKyehazIckUCciRWmTIleakyOemXeRc0jtEtRe1ZHmE19sD2I1mAeKx1lNFA3iWtdByDImmVkwzvFSdY1ujiIkRvdbKQKejQGbmyMHLj/PNclaBOyji5NLSBZ03lKuU+wc7QOe0BogZNjqugvZVrwDGJutNgbsn84VwfU/E5ZsXacBqPclk66jUDLUNh6rWPW9CUi+uxZ1PBnvDB35s6Bsx40Esn7pB6NxYzJeGHblxas4k1xxLj/7pnJ4A/jZ9cDOG9+J+W+UcNsdewM8fdtVFrxIAjbK2EiBzsTeRHKBFOSQHrMir8+KLoZJwFeu2QvLNC6Pvbf+Mb53IdDyNLPq+KTgcbMi43Q8SKsb8HRd6tiLa55guTzrIO061jq3GMUThWV4TkPXCI+L0dW5plkm5YOuIZ7P0DFVvoxsDhHQPZTyhTyH3PiQtkcu2+TOEbk8H5VeUHmdI6zL6fO0fbLCJZ/1u3apXp6neJvtk/sW3Z7AawM8zxxn6psrrEqYn1sQAlFaH9sAnaOC+iTIn4J9NLWb8XrhtUOULvQKiXXyAeh8Fbfss7sGJV9geUjHCanM1BUH4J/KIkLE/gYcuGLKYRNRUT9UjnWjO1IZcpWmetQXNomiIGtNYnl04Q51miYu1Z8slNYDdGwq4lyCRB+Pi/FUBF1QjqnvOmbqR4pUbjUcMCxIp4bM684xGvLGiRtDI/Ihn/fTYA6sAZLpuFNf1G9B/iwUl4JtNp0f6jPbUppfgmsf6wlgyKmdrN/pX+Z1ro5JCsVV2+nqZd58CdAVV5GfJ3IgxVtqR8h+B+KA8ZgPQG1Qu+QKOg5yBfkF+SVfZdhOjVeikkcc7hixzWm9rm3KJ6hdcgWdT+QaVTlGv/S5rq9KG4U6q16CyjCeN+IjYBkjXBnJSvubddV2gVzl2DeXV41TH1OUgVjXF8+vIGSrVV7nQwqen4/+L3DYno/hru/+FMed9GmsPIP5qM/RSMUjeQwGGdBb002yayqwqzAyqls0/TRMnmdTHth6F+B/f3comqZVcO65d2HT9W7AZutegy3WvxZbbnAdtpp+A7aecSNmbXAT3bPJYFeJ4JGX3vjm1x7HWqt9CdtM/wq2Y/7u2JZx2864GdvMuA3bzPwatpnxVeIcsDjcBSiPrElZbk3A//3oRWwx/SRstcFF2Gq9K7EF3S02uIThqwi2y7XtOmxDN8UWG5yBJx7VKJ220dDaUoaU+NNPAlttcSr7cDlmzbwB22xIyO2CW9imbyTY4FZsM/Nc/PzeR9A+l2dVhTJlQGuGRlcUT9ydNjsbW6x9HrZY5zLiEmyxLt11r8IW61yTYO1rsDn9wqZ0N133PPzo3mehWUg9hqFE6EKcP5fCSzQiZp2KLWdegG1nXptgBt0Mtp5xPTabeTM2JXebkstNZ1yBYz717YQ/HktQBnRHqROewi884w7KOZfH4ya6tztsN+NWbDf9lgQzbsFHhZl0iW1nXolNNzgJbbyQNCZThNtaWnT1AQ8//DY2W+csbLn2texfBgo7XE0+yMHaAv1rXsZ6zsbbL1BMmWC7wlwRpk4z+Pjjb2O9dU/DeutcT9yM6evcjE3Wvh6bU1ZP2GTtS7DxBqfggd8vAHUYJWQ2ns6oALtvcw223+hGbDP9GuywMc83nsvbEFutdw3PIx6bdXku6RitewPP8aswfc3j8fUbH4EUkMonZLKhnK1R+NC9bsNmM67BOmtciq02JG8b3oSP8pzpCdvOvA4fmfEV7LPHLTCeI3wQAOkM007nN9t3xF48DtOvxcw1LsB2M6/vHRsybcMbsdPGt2H7zc+BG/R00ugcFNRfdv/X976DTdY8EzPXOx2brX8RNp9xJXHNIth05jU8b67BNpvfhI/MPA3tVMZ5nTNVOUDiee1FYJ01P4dZW1+LHTb5Fs/f2x22WOcGHvPriJuq0DlOPqdfjc1mnopf3PNXQEqVbVJXq+LAJ8/YbPpnse6HT8LmG1+DbTa4Ctuudx1xE3Erttv2Vtz6tTux5awZ+N8HjsIyqwClFooKY8hwSAjk8dCdnSD5ExrkIu2/AfMXzEMhl4Me/U9bBrjn4f2x74Hb43t33YVddr4NH13nauIy4gJsvd552OD9p2Pj9c7Axut+Ef/6a3LMk2MluQRHoNefK2OTD5/Aa/1ybLneVdiS18/W69yErde9lbjdYct1b2Haddjgg+fiIzPOw0YzzsBDD3AAZ3l3zNRGtq/C637hXGDTTc7FDF17PPbb8FzqCVtw7Jmx9g3YkHpgg/W+gksv5jklOQ5smy6kiBdRDjhkj5uw4VrnYPOZF2PLGZcSbOeM6+h2YiuGt51+Izb78FXYbO2rcPTu33SS4E7QxBtXr/MLzr8PG61zMTZnG7din3vClmz7Vht+nfluph66DkftdSccd6JRYPviFo4V1MM//tYzmL76sdhivcsSvbMBdSKx1QY3cPy6JcH0W3g9EHKJLaafg6cel2UksSVUqkrYeJ3e99t3sPVWZ2Cbja7Gdhvehm03IuQS2wgzb+N4dRu2mnkH9dTXsBXHhy03PAv//AstHlLm2qkDw+Phxgkepx02PB2z1r8Us6Zf1RUzGO4B28w4m4bRn+DKG/lLZfGwS/6sjc/hOH0FtuBYn2JL+oUkfDM2m3Gbgxu/pl+A88+8C2qWjGXNasYcrxEUXB03XfsTfGTtM4jridscNln7RmzC8aJHrH0R9tjpYoDFJTPP60LtirWEiW392d3PY6O1zsZGa17TC67EzDUvruJyuhdi8w3PwFNPACFtkqiVBxYkzgCdQv/vzj/iI+ucwvZcTdxMfJXXzI0J1r2RY2EV69zIMfNG6s0rsP4Hvoxf/4x3czxNJEM3Ns7l6a3xZpvp5/GcuBHb8Lzddv0b4bDBjdjO+a/HlrTLNl/vemy+wc3YfPq1vI7PxC/+32vgvQdvVNlxY/skUOcjse0mZ2DbTW7CthvfynPmdmzGcW+zdW/i9dATrsPGH7oSxx3+E3aQW1WUxIlHuScf/xPMXOsifJTn19YbXUd+rsLmG6W4CWed+UssWDgb377raOxzONvDTZQhplKnyHpvanJt69DBThHQE4aAXJ1hOVbFG72G9wO3/L/Ncd/TB+CyWw/DxTcejbO/chhOv/RAnHbJ/jj14v1wwiX74uQLDgVUhsUcoTxAFVqDxtuczbZcDWdccDhOvvBQnHDxwQ4nXXQwhFMuPBgOF+2P0y/ak/gksTtOv+BAuEG3Y2DUWUThvCC33HY1HH/KfpR5KM648BC6RxFH4NSLDmF7DurAiZcehBSnXngUZmyytDu5EbOfcR4NjUmD3/9+4OyLP40Tztsfx56/H91OnHTufnA4by+cdMEncNL5u+Ik+k8552BsuvXaNHLZIGO7tOXVaXrI2wUXfwlnnHMkzjzvcOIwnHXBwTj7ogNxzsUHdeCMC9jn8/fF6ecR5x6Ezbf+EFopTvcKOiE5mYgp09hWirzg8uPYr0PYnwM6cPIlByDFqRcfgDMu2g9nChcchDPPPxzHfG53OIVBBQHdEqud8rPbRx2zL8447wicpjZcSL6Jky/icWQbT67ixIsPRIpTLvgUTj/3c0hnxKv6G42NjVA715mxLI4nJ8dfdADPjUNxxmWHOZx56WFIQB4uOZp+csK4sy/h+XDWYVh2VXaO7eEe4CDjzh0AH1pzWZx/0ZE4/9L9HM65jMf7igNw6pUHdeD0Kw6CoLgzLjsEJ59zALbcejIKkyiAhwIwQFC/Q+Do4z6JYy/YBydddiCO0zHkOXzqJQfyPBYOJneHJrh4f5xJnHLW/th2+zUBJ48KMuYVL+icDID9DppFDg/GZdcdgVPO3xMn8lieQD5THHfh/khx4vkH4tRzD8DRn90Z+gsDyaPPtZMKhO3b94htccrlh+CiWz6Pk3junnzJQTy+VVzM/l1Mzi4+rBp3APtwEM/Vo5L25dhJd15TEMWC7dt4s2Vw4hn74Irrj8Q5l+xD7EccsCh47pxDnH7eATjz3KNQmEwB7Kqocwg4ynJ6fMVVgbN4bpxx3n444fRPOv9ZvG7PdjgQZ/P6PpvX9dkX74uzeS6de8mhOOG0A7HVNutD7aHUZNNMDds3mZfj6eccjXMuPhonnrk/+/wpnHzpoTjxMuLy/fH1X3wa3/rNgTjrtrWBaSzKruXyoFowXsc5gkLoTe4gdGIzj2uwInuC0scrpB/FgRQI+8juT5m8BD0RCoUQNple6qXDL52Mnz11AG795TE44YpDccLlR+GEKz7F8+5QXHTVZ3D2BUfizLOPxpprUQCLODr1hE1geMX353iOHIPzLjkCp1FvnXbuvjiN173DufvjtHP3xmnnEYy/6sbP4rzLDobybL4tTygeMnceVEWHbM+kZYCTTjmU59LhvA4PxkmX7Y9TLk0gfwqNNedesTfOop464ZRPYpdPTgdPBIDjCyRU7dMjJgO+dPI+OOXcfagP98VpPBdP4zl5Gs/NLE696FCcxvPztMsPx5lXHonDv7ArZQExOxxHAXSD5ibsAOy557Y46Szm17V36SE4uYpTLzkEKU6jLj7l/N1x4RWHUPcexOuc8kIWZnugtkU52JSiKqCeXxNfPH4PnH3hYTjzwk/hzAuOdlAfT7t0b6Q46fK9keI01r32DFpqHBiMyElXsrWsAR/hdX7S2fvipAv3wfEX74ETL+rESfJfuDtOJE45/xM45bxdcdI5lHvWIfjwusuxPTxfxJ/a2Uhpus5ywLlfOZH67EicyHH7xAsOYfmDiAN6xcnnH4LNZ62JeXM49RhTTgo1mbJPPv0I6vGjcf5lh3fgAvoFxZ3Ha/5c6jw3Pl50OM658GgcecweFMRNl3kesAY2rAK2Ocauu22N8y/9LFT2fI4L51+xHy7geHDB5QehZxyOLxxbXTJAeSiwUZWYkxl0uW05aw2ep/vRDtgXF1x5MC76CvVwFlcehouuODLBlYfjIp4zZ3GMXXsDtQcIimxgmY3T4M1zctaO03Hsafvg5HP2xBkX70bsilN5Lp7KcUU4hW6Kk2lHnUL9e9LZ+2HmJisAFMXTEJDBa4BTb5oDAAAQAElEQVQOj871ky/8FG2o/R1Ooc5NcZJkUS+fdv7BOIPjzBnn7093fxx3yt7YctuVgOohTgQFiUA6J59xAE4+axecfHaCcy89AOdyvO0ZB/HcPgqf+cJuiRhKcZtxz/7K9tv7gM1wFm2w407fA8I5HOc7cMU++No9O+M7P9sBa89imSmEVBbbAdOJpxNFAcZXN4WyqEYP2pGsQRfuT8FYB0xHy5HCEjneChWIIk8MKrtZu07FR3ebjI/vtSQ+sc+y2GV/4sBl8UnhgA/BHXTwj+V18x4EeQS5AGuusyQOOmxD7LLPcth1/yUcPnHAEvgE/R8nPrGf/Evh4wcsQyyHj++/Aj6+71rQSUNpcHIN/GM7qJQaVwb2+dRHsPN+q2Bn5t1l3xWwy34rUO5yxDId+OT+y0DYjXJ3O+ADcHKkdGgAxXzc/f/ZORPvKLLrjH+3qiWxYyFgzGBmbDPYzmJ7fOItiY9P4swCWgBjEEIwjpc4OSf/fcb2GJC6K7/vVlerWhsIDQyC16e+fvt9937vvvtedwv8jzn8D8BOcc58svhtLd97XytrF3Xz/hZWyCeod9vKg1bm0uo1nb92WvU5PGEgyavDz2o5Bxvgx/9yXkvrV7T44B0tPrysG+vfwLZL+hQ5nz64KGP54SWt0Hbr0WXdenRNl78bOnV+LCsk/8Tky6n35Y9/9o5W1r+llYekYyyRTvCIdVhf0Mr6PDiLHRf001+dUXJo3bA5dVT7unTtlD7B3k9WF/Qp6/jp2gW4nAdnJ1hcPasJ6HPrLhymLOXelsmTUs8zcLj6u+/pN799R8uPzmnp0byWHs5rkXQLC3BxgboFXX/0jm48/ECpH2uq/quRTp2R7jy8pjv0u/NogXRBtz67MIUVykbWP7rChfZHmtgYFugdijBn0XvlwVWtsB7G0vo7MhadUrcEcq3w5UVj7bLW//AzXf0JJ8qstJFra6FjZUlW1q4h7wJ4J7G0fgGZW1ihvIKsDr9B5vWb71sbvhGo5D3CaUAZufUIrq9p8f4CPtPixoMFTcC63nhwmjLrM66/vnZSi2vvKTnsfDDUvrD33GVp9Y8f6qN7H+jG2nd1/cF74Os7sPjg61pcp/7+Od1aZU0YK78sy8gPX5uq+M1y/b9/qY9vXsJH5tGV+e+f1vXVCy0yf5b8ZV2/f0Wf3Dyve3/8oU59DeX8E6JlGSmbdaH6+sqPtfqn7+r2+iU4XIC/efz3NDirb/9QOv2uNCT+jI7zsw6/s2aIYnx0cnw54UKhBA1v7eNFg1CfZBMOXOcC+6Aa6vHm/6mZ5ZJ9Rvrg59LSw/NaIp4t4RfLxMeVtfd1c/Wqbq/+kLX2uA7IQYSePJG/8bz52ff0KWu+vH5Fyw8ua/EhcWL9pBbXT7O357WM3y9/dkkf3f06/vmB7j78sD0j/cEpWHevHSId2zzD6qOrun3vPLF6QStrF7Q0hvMTsI9u3r2kXz96V//5P9/RP3yIrcho152MZfpnk1r66S8v6v5/fR/droGrWiZOLhOLpkBcuv7gjG6tn6P9a/rFx3yas4xJALFmgGl+8E+htd9d0U1i901id4dl8n2srC3oBnv0NufNP/875wJqyXHXckHzBR+aa+kin8n/+L//puvYc/3eghaN1QXOMGyH1zxXibcr5Dssr15Vqjb+5iKq0OO/fa7R5lOdnJdu3vlQS/euAGTca7FC6vF5nqF7d3bcenRRt4kHs9xZGn+16T+75DIp/6kJJvsC94uP4OXeRS2vknIGLnPOLt9/V8tre+E7+vbfn9OZ89htGdg+8j8gtd/MSv9x45v66Na8Prp9coJfkTc++vVJfXznlK7fO0lcwY/uH4eTS/rGVS4dPq9Zg4xxlgUabeq9q/O6cfeKbqye1o37xll9en8eLOyOe5f18e2/azmsUDAMhLEvRFyZvxS6+/t/1K3fXcaPLxAjz2/DRWWcdKxk3RcfvKvFtWtKvSbyWFxzyJrPXzqlh3/6ie7+4ZucWZd1izP+tnl/dF63wa3PzmsKnF9rv/1XXfgWevk+SZK+HWQsf0Zavv9N+D+vZfbs4i5wfQvWDD0f/v5HOstdKUMCpiozJrOSfWlp7ftaevA+uAwubbN3u/0uz+t7P0IfzPSykBs/DWmjny9f1J3P3mcPX9Kd9fd0nX0wAZxd/oF0gnhuvmXeHQ8Y+aoerH6ZUyG+GcBLLe+nBuMyjUoNXjJi6qe8EX7Fh2nFMSpmgdfDhDI8L49BHWCYoprVcLOV5585/GuJ/4HpxlBKWN4Y/h/0OrgfXZgXWeihCuH+dtxgrTb4idl6+As3b3ZZjxn6ogtfLKtDoJeB+krkonEQ+zeh6jH6cSDUfDxjXI09gzm6kfch0SFlU5+p5zHo63IeAONLpOVvjELJAX0agpNtMDZtI5lMne8De2yL23KseGFufgVCtiHA1ehkOzefSAlUJm5qk3hs+M8BEghy6nXaQJW8W8BByjWHlmtZtCFaSTDzM0XGTl/oXOyj6+O4kDp6PIMbPnU2QiGCGUXZ/pwnKFkANpLb9zF1/kLXmznhscB6jBg/BPaTp3BnbGLfFKj3hwvX2e7HtKceOSuD81JFJ1KrlHLJeF7LNmyX692rD/vgJrbmGjOmPj4HFfTIC0CYMvkvYvLfrdDus4Ll4KdVyXINf4vVxxPr5zVAv4ZJw/6IbhrhYHzr5SyTIIAOTJXlzgynVOfjfB+1Cwh3CkYVZeYxt08h8vPP/4KvjJR7j25dat+ZgKX0L+D5SyRrkGuJjEy7wMu3LM1TjMW3vV7efwnzhJ8RPpRgnGPHU1JhWnW6Sq68Ntmfw18DJqG9tizU9X6y3/ofbxv+ayivgfdvheyIUFNtgqGa2kCPJMNvCHLydmHaWtORPgQXzk9aKXuxKB87fkrhYAL1f/7zUEOaRnA7GUa5qTe1WT/WZvWFNMPC2JfoL49j/TMO4ej27/RVt1UIxwcEUp5lUoXr5WfsofvQpnRoHNB+D8L/EorN6Lub19t7PX0T33f+CekWRqp8sWAux6GhNxYXFY1ta/00lDrhc+5jfSbw+bAXrBs6ozL33UGKCkTV+S2l5P9UybZMZA3oaXTyiPf23wT1I86HkdssE33FnlQMFXP4MJFj44uRHDdst2O04bUwTwnED8dolVEmI7hq2FgNqbDb61kNKvmi2u2Tivk7TPS1LtaxS5036BuD47JthqwISy6/3NfobLAdRtDYh+uA97WikQLniCdqOF+rY+Rpsx5z56TkxzJ3A7q4n/0rQRlTlXU1YyuWFvGjaNT4LKM9+1mW84b7daA/FGlXBPKMmjce97HpTtN/mGdHyhAf754/U/rYBR3vaFIuUE0lC9GMPDkraNnWx8Uudd71u+DxcENP8I3Gm4tf/ES8U/4RM7LEC/E5j9doO2ibVDlPwf9k7Mlf4M3DPX8wuQ8FSPW5N6KPp0og/lmPx6S9iEk9zHnFZMhLl+QMEb5vX56cnczRuAvINCex8VaIRvaDq5zr4PLLgNV+GXInMkewks6BfU5lj0rPYhEgIHCQmuBUATsvVelnDEsZJsgXgyzwNuQErDko8Sk5dg7YtL6k9lFDuOE6y+7Al9cS8+UmCoR5EjPAos2clAYgHFCtSw/++9IOPrwT3SYjaCs1xlIiZFXPKHCAhm8XR8MhG5N50DE3epdadpfflj7e+Js2/Id8DPPjS5QpMyrbhY41sK5TONFokMAOLhAD+hqWkeAmM+L3wyHyq0Gt/CYaLx8cY1xiqMGxHo5Tb1gOnJjPCl39IUA1EpO/StbLNGZKMe20fcB9W96GitktiG//NNugw0gD6rf4axDM40X34gZ51kZ8mtfMUIkBaYcZgqmRZcZmX6RVjPPj1DLIe59X6F3TZwY7ZrHLMEd7YcZ9sCPtQ4asU6bjt2hk/7UvtmjLDfo26BRcylJ3ysQDmQ/PZe5HHNTeD2HFUhzKIk/Uyz6VYxpV+GuORW+Pc7BxavhDnQ82jW1ULkIK4w15vOdaYfeeKXrK6PowTx5caeuQ900wsqRMA7ENAfjMGZxwdqSKdalYw4r13AKawHH6DPIGvjQFIhpg+4yMAZX++vlf4YVGHtvZcseBhk4NsrfKkm2fHX8Z5ZgwmJvVsGpkHg1fHjaJ4F7jIRx+sfEXee97nQ3HA/+5RjAGTXgwhnfFprag8cttxrhYkm0M5GLmUTUk/j0lUNm3R77seL3Tn/CbwRP2CKg2WCfzTJ3X2kh/hWP6Opal33m/Gew9H5yGz4YEPjW0fC6PXtdWoRREFtn5wRu9WHsx3wl8ZeaU1MccbjvBiUqb/q83GW3dZ45X5PzgtOjWcFCM+FXR+2sD5xoQB51nBtG0A25LWIRhcZ16YlSXx9459HI8txw3uXsHesLVKNEE8Y6GzXiiER9EMj5QzqdigsFAMVdr5mQlf/tbEfv9RVTAYQ1fuyFjNG2OTY6JQXAIBzAmbjgjfIlzfZ6X7ocs9eG6GYlhLVADutTHUCN+YWNN3NY0avwtN7bYnvwijT3Y5jfUsFZN9YR0jLT1KbQ8RQqSPD6YjzGyQbQQDSSXrYf16dDp6Xrge+eQ/kNkGHI8rULiGXF7G9mDqas4E1N/1qah3GFiI/W75m0fsiwvYSHIz3WlzWHOcWt3sBcGj6WB/9yOb7D48Nfg2zlWvCyXRMhjEzlHX49hofynnQZx12fp1Pp0HMDJmXMzmsPPvbzK/dGKST9iPewDyYkv11Ng7fC3AMp6xsHBCX4Vtu/6LKMmlyFT61qRM+jnWC7zyNhmN3R9Bogg37fZ+YaDJmqE2hb6+O5h5B2R/paf3DIfjDCxH8Ml9g5r7tLLBtO/3CkCDibAwxq8sImazSJ5EWZmQnCl7uWLgUE3GW6LiK5ZUW3lZe1NpuH8drCAPiyNTkBEKJhfObirnU7ZV9MV+5ZYXSJSM/FgKzOr4GbjTZm2BAKMTj/n98CxY8c0ICj6gsAoHT8xR/Bhw7gArFsfVI2fTqAIOi3GDZnYKYPLfT1jjxxlXdQoZD4Nc9KB6BkRiohcJzsqWcqtXI/uQ4E4A3Gy+X24rpPbTz2n53edlbMQHCJE1POEiU4uwt1vL6CvLI+5nLWujEwenE4BUZ5qUteVd0u3yZOomBgoRYTEvLnG9jVcwfkEtgWwPkZNm6Hxq1KlgTsqpIRUkw44FFtIfBEkj6VKfdOFLMN1A5aTs0H5QpcmKrUQaQNoqfYBesjo98EWRjJoQItRkWYv6kaa8ycL6xq0pY2017QDqia6epCXtp5BJ+HDwXBXGs6DE6dPqAnaxk0V8SDBgVYZlKdkuh+IYDBpjR6Osx2o4ki0vEonTp70TFNwewsMxseCEzacGuTbNr/TbpKR79JbCVPcR5LQVZifCna8AqGaLzVmZ2tVfEKx/+HMUuV1n5N0nPZTmjt2hvwAVC2CpPcMjlEYNyFYCU2/ZmZmEOtOXb2FDCjMjlGTVqrpvME40gAABtdJREFUlwtPab9n4E9Wkw6WZdktwhusGsixrsYPLc/+7HQ3uM2eJ6uDiCzj223KfhS7arxZuxiecmoU8GWwA/svIhQRGkWV/lxzcQz0GTFgCw0DO5BFjveKSPcFuiFGIl6IOYRcxQwKDhTcUgKbs96iEXvQx2dXzYYc1J6I0VVINUqxn4NYEHDZolJw1rWYJd9DPaMwokaVGuZmwJx8NUJRhEaLcaLd0kqqaroNtjAKJZ++VDdVqIPX2HWG+xiMkmPTFpiZ8U0Pntdhw/0to0MToWB+7Qv6CLv4tNOgaIvQKForh2g6ZAJjhLAGKAUGqm0HVfs+VqRHBLzKc3Zi4EJTgDja3SeCThTt1519nmpENeopIbjpT0F/D5+WyYBuDny8ocgw1kAa4fuWPcV/bDlgILuVxwjyvEvZPlKjEUwJjMhVCY1f7mqMi1968jJl76Hs4aasqm3jTeJe6GvQ9enX7ZV3373auvrx4kvWB8fkI2aTX6GQT49y/bhzkBokL/o4KKXDWLceXN+HHbDBpQznu/kiQhHRFadTV/cx3frMkh2/Q3buy3pWPgfw5t3UwJk3tkFVPvuNT+4Zkx17b/BjfXo14+zutePGvRPktY39ufr5tvWlvXv+HrqA3vcH+8Cu8zOu6797KiX1vX4ph7Vo3LCD473tznF+Q1Zft8xTv6eOtD3z6WQ+o2M4QPf7dOP66aR9bAu2ypjUO+M2w/m3GN3+OwQFo/QhCzqEkD2HWm4fXjNjzwEv3JDRIxqlP++Tdvss+2nnK/dBb3zbv9uHO/vvXbOHnX06npXvhNv/HXeddnWHSCNCVT3WDx3CeVKHlNZeTqhJecv2tl3bXpazhVH607YuexRzzfZoc3WM4wXauDiFvCD2a3prlmtLeUcfrm/dkJybPl3fHSkdR7FlF8XJ03AdnBTGGc9lmX2Mm56ZtGPay6X5a9EOa557Hdr+3bs17/JT6dhm6ztVv71AP1+ckxfatq/BruMZk/2dMmbrsYUuWSvD+cZvLxXdTC9tEk+wH17axG+A4Ay0B7SDD3L5y1aXbg3fvgpbLfvlto96Vnk/Wbu2sXm1H3YdtH9lRGSIta6aeu2smWreoxBhBbtG542u/Kam5so4WvZ1ft+lX6b2XYjuy3RdH/22kj/6DHgH9PGqLer8eJKiwLQ+jkUGDS/yeOh+eBGZL2FM32bnn3cK951wx31qn/zUudn1e9Y8KZ9Oe6U07ft08/TTmvOm4oNMC03rhbT+XBSf6+mP6eefazCd+mOcp2rH4/pEj+cdnbZV9O3eLb+t+67FoLZDzk+5S/loRgmFtBdoPsTjeQ4xvAwtDBQGCgNvPgO+JL/5VhYLCwOFgcJAYeB5GTjyF+iIUMTz43mIiYjn6TbVJyJSj6nKFyhEtHIivpz0BVT4aoYc8Vkj9l+vg5gXsb+siFfXvqW3Q4WxVeNcxMF08Zg+Itrx/brt+Yi2T0Rsb9pRjojchxHPl8o/4faxQ2JbYcuNtlTetzMA3fCuCTR+mTNjXDzyScTz+VXEy+l3FAiM2LJ9u74RW20Rz5/fLucg5YjnnyfiYH136mFvN9qWiIPJi9i/fyv1y3uP2H++iLb9IDNGtGMiDp9unzdiWub29ldd3lrpVz1zma8wUBgoDBQGCgNvAAPFhMJAYeDtY6BcoN++NS8WFwYKA4WBwkBhoDBQGCgMHIKBN+QCfQgGytDCQGGgMFAYKAwUBgoDhYHCwAEYKBfoA5BVuhYGCgNvGgMOgT0E9hkk/cf/iNDo1znfGynnXXdgHOEBtnk/HGHTiuqFgcLAa85ARdTtQ3LwPgh0qJdj36EElMGFgcJAYaAwUBgoDBQGCgNvHwNvs8XlAv02r36xvTBQGCgMFAYKA4WBwkBh4MAMlAv0gSkrAwoDrxMDRZfCQGGgMFAYKAwUBl41A+UC/aoZL/MVBgoDR44BB0rjyCleFC4MvM4MFN0KA0eYgXImHOHFK6oXBgoDhYHCQGGgMFAYKAy8egbKBfrVc/46zVh0KQwUBgoDhYHCQGGgMFAYOCAD5QJ9QMJK98JAYaAwUBh4HRgoOhQGCgOFga+OgXKB/uq4LzMXBgoDhYHCQGGgMFAYKAwcQQYOdYE+gvYWlQsDhYHCQGGgMFAYKAwUBgoDh2KgXKAPRV8ZXBgoDBxRBorahYHCQGGgMFAYeGEGygX6hakrAwsDhYHCQGGgMFAYKAy8agbKfK8DA+UC/TqsQtGhMFAYKAwUBgoDhYHCQGHgyDBQLtBHZqmKoq8TA0WXwkBhoDBQGCgMFAbeXgbKBfrtXftieWGgMFAYKAy8fQwUiwsDhYEvgYH/BwAA//+4Lw74AAAABklEQVQDAFAGPc5v1r93AAAAAElFTkSuQmCC"/>
          <p:cNvSpPr>
            <a:spLocks noChangeAspect="1" noChangeArrowheads="1"/>
          </p:cNvSpPr>
          <p:nvPr/>
        </p:nvSpPr>
        <p:spPr bwMode="auto">
          <a:xfrm>
            <a:off x="133350" y="-1104900"/>
            <a:ext cx="5734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80700"/>
              </p:ext>
            </p:extLst>
          </p:nvPr>
        </p:nvGraphicFramePr>
        <p:xfrm>
          <a:off x="554380" y="896745"/>
          <a:ext cx="7596402" cy="3365380"/>
        </p:xfrm>
        <a:graphic>
          <a:graphicData uri="http://schemas.openxmlformats.org/drawingml/2006/table">
            <a:tbl>
              <a:tblPr firstRow="1" bandRow="1">
                <a:tableStyleId>{2DF249E7-CC46-4962-A1F3-6DBACFB98363}</a:tableStyleId>
              </a:tblPr>
              <a:tblGrid>
                <a:gridCol w="1759679">
                  <a:extLst>
                    <a:ext uri="{9D8B030D-6E8A-4147-A177-3AD203B41FA5}">
                      <a16:colId xmlns:a16="http://schemas.microsoft.com/office/drawing/2014/main" val="4251033610"/>
                    </a:ext>
                  </a:extLst>
                </a:gridCol>
                <a:gridCol w="3302127">
                  <a:extLst>
                    <a:ext uri="{9D8B030D-6E8A-4147-A177-3AD203B41FA5}">
                      <a16:colId xmlns:a16="http://schemas.microsoft.com/office/drawing/2014/main" val="1932605892"/>
                    </a:ext>
                  </a:extLst>
                </a:gridCol>
                <a:gridCol w="2534596">
                  <a:extLst>
                    <a:ext uri="{9D8B030D-6E8A-4147-A177-3AD203B41FA5}">
                      <a16:colId xmlns:a16="http://schemas.microsoft.com/office/drawing/2014/main" val="2321009195"/>
                    </a:ext>
                  </a:extLst>
                </a:gridCol>
              </a:tblGrid>
              <a:tr h="673076"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động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Nguy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cơ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06301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Thực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trên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đĩa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Thực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</a:t>
                      </a:r>
                      <a:r>
                        <a:rPr lang="en-US" baseline="0" dirty="0" smtClean="0"/>
                        <a:t> 1 file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File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thực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chứa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độc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tấn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công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000707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 smtClean="0"/>
                        <a:t>create_memfd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Tạo</a:t>
                      </a:r>
                      <a:r>
                        <a:rPr lang="en-US" dirty="0" smtClean="0"/>
                        <a:t> file </a:t>
                      </a:r>
                      <a:r>
                        <a:rPr lang="en-US" dirty="0" err="1" smtClean="0"/>
                        <a:t>ẩn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trong</a:t>
                      </a:r>
                      <a:r>
                        <a:rPr lang="en-US" dirty="0" smtClean="0"/>
                        <a:t> RAM </a:t>
                      </a:r>
                      <a:r>
                        <a:rPr lang="en-US" dirty="0" err="1" smtClean="0"/>
                        <a:t>bằng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memfd_create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Không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có</a:t>
                      </a:r>
                      <a:r>
                        <a:rPr lang="en-US" dirty="0" smtClean="0"/>
                        <a:t> file </a:t>
                      </a:r>
                      <a:r>
                        <a:rPr lang="en-US" dirty="0" err="1" smtClean="0"/>
                        <a:t>trên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đĩa</a:t>
                      </a:r>
                      <a:r>
                        <a:rPr lang="en-US" dirty="0" smtClean="0"/>
                        <a:t> → </a:t>
                      </a:r>
                      <a:r>
                        <a:rPr lang="en-US" dirty="0" err="1" smtClean="0"/>
                        <a:t>tránh</a:t>
                      </a:r>
                      <a:r>
                        <a:rPr lang="en-US" dirty="0" smtClean="0"/>
                        <a:t> IOC </a:t>
                      </a:r>
                      <a:r>
                        <a:rPr lang="en-US" dirty="0" err="1" smtClean="0"/>
                        <a:t>dựa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trên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filesystem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42288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r>
                        <a:rPr lang="en-US" dirty="0" smtClean="0"/>
                        <a:t>Ping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Kết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nối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đến</a:t>
                      </a:r>
                      <a:r>
                        <a:rPr lang="en-US" baseline="0" dirty="0" smtClean="0"/>
                        <a:t> 1 IP </a:t>
                      </a:r>
                      <a:r>
                        <a:rPr lang="en-US" baseline="0" dirty="0" err="1" smtClean="0"/>
                        <a:t>độc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hại</a:t>
                      </a:r>
                      <a:r>
                        <a:rPr lang="en-US" baseline="0" dirty="0" smtClean="0"/>
                        <a:t> (</a:t>
                      </a:r>
                      <a:r>
                        <a:rPr lang="en-US" baseline="0" dirty="0" err="1" smtClean="0"/>
                        <a:t>tồn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tại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IOC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sẵn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Máy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nối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đến</a:t>
                      </a:r>
                      <a:r>
                        <a:rPr lang="en-US" baseline="0" dirty="0" smtClean="0"/>
                        <a:t> IP </a:t>
                      </a:r>
                      <a:r>
                        <a:rPr lang="en-US" baseline="0" dirty="0" err="1" smtClean="0"/>
                        <a:t>độc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hại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bị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điều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bởi</a:t>
                      </a:r>
                      <a:r>
                        <a:rPr lang="en-US" baseline="0" dirty="0" smtClean="0"/>
                        <a:t> hacker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470577"/>
                  </a:ext>
                </a:extLst>
              </a:tr>
              <a:tr h="673076"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năng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với</a:t>
                      </a:r>
                      <a:r>
                        <a:rPr lang="en-US" baseline="0" dirty="0" smtClean="0"/>
                        <a:t> XDP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nhiều</a:t>
                      </a:r>
                      <a:r>
                        <a:rPr lang="en-US" baseline="0" dirty="0" smtClean="0"/>
                        <a:t> request </a:t>
                      </a:r>
                      <a:r>
                        <a:rPr lang="en-US" baseline="0" dirty="0" err="1" smtClean="0"/>
                        <a:t>kiểm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năng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khi</a:t>
                      </a:r>
                      <a:r>
                        <a:rPr lang="en-US" baseline="0" dirty="0" smtClean="0"/>
                        <a:t> drop/allow packet </a:t>
                      </a:r>
                      <a:r>
                        <a:rPr lang="en-US" baseline="0" dirty="0" err="1" smtClean="0"/>
                        <a:t>bằng</a:t>
                      </a:r>
                      <a:r>
                        <a:rPr lang="en-US" baseline="0" dirty="0" smtClean="0"/>
                        <a:t> XDP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máy</a:t>
                      </a:r>
                      <a:r>
                        <a:rPr lang="en-US" baseline="0" dirty="0" smtClean="0"/>
                        <a:t> EDR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gây</a:t>
                      </a:r>
                      <a:r>
                        <a:rPr lang="en-US" baseline="0" dirty="0" smtClean="0"/>
                        <a:t> lag </a:t>
                      </a:r>
                      <a:r>
                        <a:rPr lang="en-US" baseline="0" dirty="0" err="1" smtClean="0"/>
                        <a:t>máy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không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74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8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42494D"/>
      </a:dk2>
      <a:lt2>
        <a:srgbClr val="B4B4B4"/>
      </a:lt2>
      <a:accent1>
        <a:srgbClr val="E80500"/>
      </a:accent1>
      <a:accent2>
        <a:srgbClr val="FF9200"/>
      </a:accent2>
      <a:accent3>
        <a:srgbClr val="0432FF"/>
      </a:accent3>
      <a:accent4>
        <a:srgbClr val="932092"/>
      </a:accent4>
      <a:accent5>
        <a:srgbClr val="FEFB0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1269</Words>
  <Application>Microsoft Office PowerPoint</Application>
  <PresentationFormat>On-screen Show (16:9)</PresentationFormat>
  <Paragraphs>209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Calibri</vt:lpstr>
      <vt:lpstr>1_Office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37</cp:revision>
  <dcterms:modified xsi:type="dcterms:W3CDTF">2025-09-11T10:34:33Z</dcterms:modified>
</cp:coreProperties>
</file>